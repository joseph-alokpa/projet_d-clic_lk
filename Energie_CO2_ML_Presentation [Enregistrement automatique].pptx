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8.xml" ContentType="application/vnd.openxmlformats-officedocument.presentationml.notesSlide+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A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10"/>
  </p:normalViewPr>
  <p:slideViewPr>
    <p:cSldViewPr snapToGrid="0" snapToObjects="1">
      <p:cViewPr varScale="1">
        <p:scale>
          <a:sx n="92" d="100"/>
          <a:sy n="92" d="100"/>
        </p:scale>
        <p:origin x="7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Fréquence</c:v>
                </c:pt>
              </c:strCache>
            </c:strRef>
          </c:tx>
          <c:spPr>
            <a:solidFill>
              <a:srgbClr val="065A82"/>
            </a:solidFill>
            <a:effectLst/>
          </c:spPr>
          <c:invertIfNegative val="0"/>
          <c:cat>
            <c:strRef>
              <c:f>Sheet1!$A$2:$A$6</c:f>
              <c:strCache>
                <c:ptCount val="5"/>
                <c:pt idx="0">
                  <c:v>0–1M</c:v>
                </c:pt>
                <c:pt idx="1">
                  <c:v>1–5M</c:v>
                </c:pt>
                <c:pt idx="2">
                  <c:v>5–20M</c:v>
                </c:pt>
                <c:pt idx="3">
                  <c:v>20–100M</c:v>
                </c:pt>
                <c:pt idx="4">
                  <c:v>&gt;100M</c:v>
                </c:pt>
              </c:strCache>
            </c:strRef>
          </c:cat>
          <c:val>
            <c:numRef>
              <c:f>Sheet1!$B$2:$B$6</c:f>
              <c:numCache>
                <c:formatCode>General</c:formatCode>
                <c:ptCount val="5"/>
                <c:pt idx="0">
                  <c:v>420</c:v>
                </c:pt>
                <c:pt idx="1">
                  <c:v>310</c:v>
                </c:pt>
                <c:pt idx="2">
                  <c:v>180</c:v>
                </c:pt>
                <c:pt idx="3">
                  <c:v>60</c:v>
                </c:pt>
                <c:pt idx="4">
                  <c:v>10</c:v>
                </c:pt>
              </c:numCache>
            </c:numRef>
          </c:val>
          <c:extLst>
            <c:ext xmlns:c16="http://schemas.microsoft.com/office/drawing/2014/chart" uri="{C3380CC4-5D6E-409C-BE32-E72D297353CC}">
              <c16:uniqueId val="{00000000-DD37-41C0-ABFB-42B0E3D168C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Fréquence</c:v>
                </c:pt>
              </c:strCache>
            </c:strRef>
          </c:tx>
          <c:spPr>
            <a:solidFill>
              <a:srgbClr val="02C39A"/>
            </a:solidFill>
            <a:effectLst/>
          </c:spPr>
          <c:invertIfNegative val="0"/>
          <c:cat>
            <c:strRef>
              <c:f>Sheet1!$A$2:$A$6</c:f>
              <c:strCache>
                <c:ptCount val="5"/>
                <c:pt idx="0">
                  <c:v>8–10</c:v>
                </c:pt>
                <c:pt idx="1">
                  <c:v>10–12</c:v>
                </c:pt>
                <c:pt idx="2">
                  <c:v>12–14</c:v>
                </c:pt>
                <c:pt idx="3">
                  <c:v>14–16</c:v>
                </c:pt>
                <c:pt idx="4">
                  <c:v>16–18</c:v>
                </c:pt>
              </c:strCache>
            </c:strRef>
          </c:cat>
          <c:val>
            <c:numRef>
              <c:f>Sheet1!$B$2:$B$6</c:f>
              <c:numCache>
                <c:formatCode>General</c:formatCode>
                <c:ptCount val="5"/>
                <c:pt idx="0">
                  <c:v>80</c:v>
                </c:pt>
                <c:pt idx="1">
                  <c:v>220</c:v>
                </c:pt>
                <c:pt idx="2">
                  <c:v>380</c:v>
                </c:pt>
                <c:pt idx="3">
                  <c:v>240</c:v>
                </c:pt>
                <c:pt idx="4">
                  <c:v>60</c:v>
                </c:pt>
              </c:numCache>
            </c:numRef>
          </c:val>
          <c:extLst>
            <c:ext xmlns:c16="http://schemas.microsoft.com/office/drawing/2014/chart" uri="{C3380CC4-5D6E-409C-BE32-E72D297353CC}">
              <c16:uniqueId val="{00000000-16A7-4D63-9163-26DE4F92726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Score R²</c:v>
                </c:pt>
              </c:strCache>
            </c:strRef>
          </c:tx>
          <c:spPr>
            <a:solidFill>
              <a:srgbClr val="4CAF50"/>
            </a:solidFill>
            <a:effectLst/>
          </c:spPr>
          <c:invertIfNegative val="0"/>
          <c:dPt>
            <c:idx val="0"/>
            <c:invertIfNegative val="0"/>
            <c:bubble3D val="0"/>
            <c:extLst>
              <c:ext xmlns:c16="http://schemas.microsoft.com/office/drawing/2014/chart" uri="{C3380CC4-5D6E-409C-BE32-E72D297353CC}">
                <c16:uniqueId val="{00000001-75C7-4EC2-AE35-FBD2AA36D96E}"/>
              </c:ext>
            </c:extLst>
          </c:dPt>
          <c:dPt>
            <c:idx val="1"/>
            <c:invertIfNegative val="0"/>
            <c:bubble3D val="0"/>
            <c:spPr>
              <a:solidFill>
                <a:srgbClr val="2196F3"/>
              </a:solidFill>
              <a:effectLst/>
            </c:spPr>
            <c:extLst>
              <c:ext xmlns:c16="http://schemas.microsoft.com/office/drawing/2014/chart" uri="{C3380CC4-5D6E-409C-BE32-E72D297353CC}">
                <c16:uniqueId val="{00000003-75C7-4EC2-AE35-FBD2AA36D96E}"/>
              </c:ext>
            </c:extLst>
          </c:dPt>
          <c:dPt>
            <c:idx val="2"/>
            <c:invertIfNegative val="0"/>
            <c:bubble3D val="0"/>
            <c:spPr>
              <a:solidFill>
                <a:srgbClr val="FF9800"/>
              </a:solidFill>
              <a:effectLst/>
            </c:spPr>
            <c:extLst>
              <c:ext xmlns:c16="http://schemas.microsoft.com/office/drawing/2014/chart" uri="{C3380CC4-5D6E-409C-BE32-E72D297353CC}">
                <c16:uniqueId val="{00000005-75C7-4EC2-AE35-FBD2AA36D96E}"/>
              </c:ext>
            </c:extLst>
          </c:dPt>
          <c:dPt>
            <c:idx val="3"/>
            <c:invertIfNegative val="0"/>
            <c:bubble3D val="0"/>
            <c:spPr>
              <a:solidFill>
                <a:srgbClr val="9C27B0"/>
              </a:solidFill>
              <a:effectLst/>
            </c:spPr>
            <c:extLst>
              <c:ext xmlns:c16="http://schemas.microsoft.com/office/drawing/2014/chart" uri="{C3380CC4-5D6E-409C-BE32-E72D297353CC}">
                <c16:uniqueId val="{00000007-75C7-4EC2-AE35-FBD2AA36D96E}"/>
              </c:ext>
            </c:extLst>
          </c:dPt>
          <c:dLbls>
            <c:numFmt formatCode="#,##0" sourceLinked="0"/>
            <c:spPr>
              <a:noFill/>
              <a:ln>
                <a:noFill/>
              </a:ln>
              <a:effectLst/>
            </c:spPr>
            <c:txPr>
              <a:bodyPr/>
              <a:lstStyle/>
              <a:p>
                <a:pPr>
                  <a:defRPr sz="12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Régression
Linéaire</c:v>
                </c:pt>
                <c:pt idx="1">
                  <c:v>Random
Forest</c:v>
                </c:pt>
                <c:pt idx="2">
                  <c:v>Gradient
Boosting</c:v>
                </c:pt>
                <c:pt idx="3">
                  <c:v>MLP</c:v>
                </c:pt>
              </c:strCache>
            </c:strRef>
          </c:cat>
          <c:val>
            <c:numRef>
              <c:f>Sheet1!$B$2:$B$5</c:f>
              <c:numCache>
                <c:formatCode>General</c:formatCode>
                <c:ptCount val="4"/>
                <c:pt idx="0">
                  <c:v>0.54</c:v>
                </c:pt>
                <c:pt idx="1">
                  <c:v>0.72</c:v>
                </c:pt>
                <c:pt idx="2">
                  <c:v>0.73</c:v>
                </c:pt>
                <c:pt idx="3">
                  <c:v>0.71</c:v>
                </c:pt>
              </c:numCache>
            </c:numRef>
          </c:val>
          <c:extLst>
            <c:ext xmlns:c16="http://schemas.microsoft.com/office/drawing/2014/chart" uri="{C3380CC4-5D6E-409C-BE32-E72D297353CC}">
              <c16:uniqueId val="{00000008-75C7-4EC2-AE35-FBD2AA36D96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scatterChart>
        <c:scatterStyle val="lineMarker"/>
        <c:varyColors val="0"/>
        <c:ser>
          <c:idx val="0"/>
          <c:order val="0"/>
          <c:tx>
            <c:strRef>
              <c:f>Sheet1!$B$1</c:f>
              <c:strCache>
                <c:ptCount val="1"/>
                <c:pt idx="0">
                  <c:v>Parfait</c:v>
                </c:pt>
              </c:strCache>
            </c:strRef>
          </c:tx>
          <c:spPr>
            <a:ln w="25400" cap="flat">
              <a:solidFill>
                <a:srgbClr val="02C39A"/>
              </a:solidFill>
              <a:prstDash val="solid"/>
              <a:round/>
            </a:ln>
            <a:effectLst/>
          </c:spPr>
          <c:marker>
            <c:symbol val="circle"/>
            <c:size val="6"/>
            <c:spPr>
              <a:solidFill>
                <a:srgbClr val="02C39A"/>
              </a:solidFill>
              <a:ln w="9525" cap="flat">
                <a:solidFill>
                  <a:srgbClr val="02C39A"/>
                </a:solidFill>
                <a:prstDash val="solid"/>
                <a:round/>
              </a:ln>
              <a:effectLst/>
            </c:spPr>
          </c:marker>
          <c:xVal>
            <c:numRef>
              <c:f>Sheet1!$A$2:$A$11</c:f>
              <c:numCache>
                <c:formatCode>General</c:formatCode>
                <c:ptCount val="10"/>
                <c:pt idx="0">
                  <c:v>11.2</c:v>
                </c:pt>
                <c:pt idx="1">
                  <c:v>12.5</c:v>
                </c:pt>
                <c:pt idx="2">
                  <c:v>13.1</c:v>
                </c:pt>
                <c:pt idx="3">
                  <c:v>14.2</c:v>
                </c:pt>
                <c:pt idx="4">
                  <c:v>15</c:v>
                </c:pt>
                <c:pt idx="5">
                  <c:v>11.8</c:v>
                </c:pt>
                <c:pt idx="6">
                  <c:v>13.5</c:v>
                </c:pt>
                <c:pt idx="7">
                  <c:v>14.8</c:v>
                </c:pt>
                <c:pt idx="8">
                  <c:v>12</c:v>
                </c:pt>
                <c:pt idx="9">
                  <c:v>13.8</c:v>
                </c:pt>
              </c:numCache>
            </c:numRef>
          </c:xVal>
          <c:yVal>
            <c:numRef>
              <c:f>Sheet1!$B$2:$B$11</c:f>
              <c:numCache>
                <c:formatCode>General</c:formatCode>
                <c:ptCount val="10"/>
                <c:pt idx="0">
                  <c:v>11</c:v>
                </c:pt>
                <c:pt idx="1">
                  <c:v>12</c:v>
                </c:pt>
                <c:pt idx="2">
                  <c:v>13</c:v>
                </c:pt>
                <c:pt idx="3">
                  <c:v>14</c:v>
                </c:pt>
                <c:pt idx="4">
                  <c:v>15</c:v>
                </c:pt>
              </c:numCache>
            </c:numRef>
          </c:yVal>
          <c:smooth val="0"/>
          <c:extLst>
            <c:ext xmlns:c16="http://schemas.microsoft.com/office/drawing/2014/chart" uri="{C3380CC4-5D6E-409C-BE32-E72D297353CC}">
              <c16:uniqueId val="{00000000-A45D-4CBB-86EF-6FAFFB1BD5F9}"/>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D9D9D9"/>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D9D9D9"/>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Train</c:v>
                </c:pt>
              </c:strCache>
            </c:strRef>
          </c:tx>
          <c:spPr>
            <a:ln w="38100" cap="flat">
              <a:solidFill>
                <a:srgbClr val="2196F3"/>
              </a:solidFill>
              <a:prstDash val="solid"/>
              <a:round/>
            </a:ln>
            <a:effectLst/>
          </c:spPr>
          <c:marker>
            <c:symbol val="circle"/>
            <c:size val="6"/>
            <c:spPr>
              <a:solidFill>
                <a:srgbClr val="2196F3"/>
              </a:solidFill>
              <a:ln w="9525" cap="flat">
                <a:solidFill>
                  <a:srgbClr val="2196F3"/>
                </a:solidFill>
                <a:prstDash val="solid"/>
                <a:round/>
              </a:ln>
              <a:effectLst/>
            </c:spPr>
          </c:marker>
          <c:cat>
            <c:strRef>
              <c:f>Sheet1!$A$2:$A$6</c:f>
              <c:strCache>
                <c:ptCount val="5"/>
                <c:pt idx="0">
                  <c:v>200</c:v>
                </c:pt>
                <c:pt idx="1">
                  <c:v>400</c:v>
                </c:pt>
                <c:pt idx="2">
                  <c:v>600</c:v>
                </c:pt>
                <c:pt idx="3">
                  <c:v>800</c:v>
                </c:pt>
                <c:pt idx="4">
                  <c:v>1000</c:v>
                </c:pt>
              </c:strCache>
            </c:strRef>
          </c:cat>
          <c:val>
            <c:numRef>
              <c:f>Sheet1!$B$2:$B$6</c:f>
              <c:numCache>
                <c:formatCode>General</c:formatCode>
                <c:ptCount val="5"/>
                <c:pt idx="0">
                  <c:v>0.95</c:v>
                </c:pt>
                <c:pt idx="1">
                  <c:v>0.88</c:v>
                </c:pt>
                <c:pt idx="2">
                  <c:v>0.85</c:v>
                </c:pt>
                <c:pt idx="3">
                  <c:v>0.82</c:v>
                </c:pt>
                <c:pt idx="4">
                  <c:v>0.8</c:v>
                </c:pt>
              </c:numCache>
            </c:numRef>
          </c:val>
          <c:smooth val="0"/>
          <c:extLst>
            <c:ext xmlns:c16="http://schemas.microsoft.com/office/drawing/2014/chart" uri="{C3380CC4-5D6E-409C-BE32-E72D297353CC}">
              <c16:uniqueId val="{00000000-E0EC-4B88-90ED-D287590C8F14}"/>
            </c:ext>
          </c:extLst>
        </c:ser>
        <c:ser>
          <c:idx val="1"/>
          <c:order val="1"/>
          <c:tx>
            <c:strRef>
              <c:f>Sheet1!$C$1</c:f>
              <c:strCache>
                <c:ptCount val="1"/>
                <c:pt idx="0">
                  <c:v>Test</c:v>
                </c:pt>
              </c:strCache>
            </c:strRef>
          </c:tx>
          <c:spPr>
            <a:ln w="38100" cap="flat">
              <a:solidFill>
                <a:srgbClr val="FF9800"/>
              </a:solidFill>
              <a:prstDash val="solid"/>
              <a:round/>
            </a:ln>
            <a:effectLst/>
          </c:spPr>
          <c:marker>
            <c:symbol val="circle"/>
            <c:size val="6"/>
            <c:spPr>
              <a:solidFill>
                <a:srgbClr val="FF9800"/>
              </a:solidFill>
              <a:ln w="9525" cap="flat">
                <a:solidFill>
                  <a:srgbClr val="FF9800"/>
                </a:solidFill>
                <a:prstDash val="solid"/>
                <a:round/>
              </a:ln>
              <a:effectLst/>
            </c:spPr>
          </c:marker>
          <c:cat>
            <c:strRef>
              <c:f>Sheet1!$A$2:$A$6</c:f>
              <c:strCache>
                <c:ptCount val="5"/>
                <c:pt idx="0">
                  <c:v>200</c:v>
                </c:pt>
                <c:pt idx="1">
                  <c:v>400</c:v>
                </c:pt>
                <c:pt idx="2">
                  <c:v>600</c:v>
                </c:pt>
                <c:pt idx="3">
                  <c:v>800</c:v>
                </c:pt>
                <c:pt idx="4">
                  <c:v>1000</c:v>
                </c:pt>
              </c:strCache>
            </c:strRef>
          </c:cat>
          <c:val>
            <c:numRef>
              <c:f>Sheet1!$C$2:$C$6</c:f>
              <c:numCache>
                <c:formatCode>General</c:formatCode>
                <c:ptCount val="5"/>
                <c:pt idx="0">
                  <c:v>0.55000000000000004</c:v>
                </c:pt>
                <c:pt idx="1">
                  <c:v>0.63</c:v>
                </c:pt>
                <c:pt idx="2">
                  <c:v>0.68</c:v>
                </c:pt>
                <c:pt idx="3">
                  <c:v>0.71</c:v>
                </c:pt>
                <c:pt idx="4">
                  <c:v>0.73</c:v>
                </c:pt>
              </c:numCache>
            </c:numRef>
          </c:val>
          <c:smooth val="0"/>
          <c:extLst>
            <c:ext xmlns:c16="http://schemas.microsoft.com/office/drawing/2014/chart" uri="{C3380CC4-5D6E-409C-BE32-E72D297353CC}">
              <c16:uniqueId val="{00000001-E0EC-4B88-90ED-D287590C8F1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Fréquence (brut)</c:v>
                </c:pt>
              </c:strCache>
            </c:strRef>
          </c:tx>
          <c:spPr>
            <a:solidFill>
              <a:srgbClr val="388E3C"/>
            </a:solidFill>
            <a:effectLst/>
          </c:spPr>
          <c:invertIfNegative val="0"/>
          <c:cat>
            <c:strRef>
              <c:f>Sheet1!$A$2:$A$6</c:f>
              <c:strCache>
                <c:ptCount val="5"/>
                <c:pt idx="0">
                  <c:v>0–100</c:v>
                </c:pt>
                <c:pt idx="1">
                  <c:v>100–500</c:v>
                </c:pt>
                <c:pt idx="2">
                  <c:v>500–2k</c:v>
                </c:pt>
                <c:pt idx="3">
                  <c:v>2k–10k</c:v>
                </c:pt>
                <c:pt idx="4">
                  <c:v>&gt;10k</c:v>
                </c:pt>
              </c:strCache>
            </c:strRef>
          </c:cat>
          <c:val>
            <c:numRef>
              <c:f>Sheet1!$B$2:$B$6</c:f>
              <c:numCache>
                <c:formatCode>General</c:formatCode>
                <c:ptCount val="5"/>
                <c:pt idx="0">
                  <c:v>400</c:v>
                </c:pt>
                <c:pt idx="1">
                  <c:v>300</c:v>
                </c:pt>
                <c:pt idx="2">
                  <c:v>200</c:v>
                </c:pt>
                <c:pt idx="3">
                  <c:v>70</c:v>
                </c:pt>
                <c:pt idx="4">
                  <c:v>10</c:v>
                </c:pt>
              </c:numCache>
            </c:numRef>
          </c:val>
          <c:extLst>
            <c:ext xmlns:c16="http://schemas.microsoft.com/office/drawing/2014/chart" uri="{C3380CC4-5D6E-409C-BE32-E72D297353CC}">
              <c16:uniqueId val="{00000000-99AB-400C-B8AB-89AE151484E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B"/>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Fréquence (log)</c:v>
                </c:pt>
              </c:strCache>
            </c:strRef>
          </c:tx>
          <c:spPr>
            <a:solidFill>
              <a:srgbClr val="66BB6A"/>
            </a:solidFill>
            <a:effectLst/>
          </c:spPr>
          <c:invertIfNegative val="0"/>
          <c:cat>
            <c:strRef>
              <c:f>Sheet1!$A$2:$A$6</c:f>
              <c:strCache>
                <c:ptCount val="5"/>
                <c:pt idx="0">
                  <c:v>1–2</c:v>
                </c:pt>
                <c:pt idx="1">
                  <c:v>2–3</c:v>
                </c:pt>
                <c:pt idx="2">
                  <c:v>3–4</c:v>
                </c:pt>
                <c:pt idx="3">
                  <c:v>4–5</c:v>
                </c:pt>
                <c:pt idx="4">
                  <c:v>5–6</c:v>
                </c:pt>
              </c:strCache>
            </c:strRef>
          </c:cat>
          <c:val>
            <c:numRef>
              <c:f>Sheet1!$B$2:$B$6</c:f>
              <c:numCache>
                <c:formatCode>General</c:formatCode>
                <c:ptCount val="5"/>
                <c:pt idx="0">
                  <c:v>60</c:v>
                </c:pt>
                <c:pt idx="1">
                  <c:v>280</c:v>
                </c:pt>
                <c:pt idx="2">
                  <c:v>390</c:v>
                </c:pt>
                <c:pt idx="3">
                  <c:v>200</c:v>
                </c:pt>
                <c:pt idx="4">
                  <c:v>50</c:v>
                </c:pt>
              </c:numCache>
            </c:numRef>
          </c:val>
          <c:extLst>
            <c:ext xmlns:c16="http://schemas.microsoft.com/office/drawing/2014/chart" uri="{C3380CC4-5D6E-409C-BE32-E72D297353CC}">
              <c16:uniqueId val="{00000000-0AD4-45F3-A572-844A81DDFD0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B"/>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Score R²</c:v>
                </c:pt>
              </c:strCache>
            </c:strRef>
          </c:tx>
          <c:spPr>
            <a:solidFill>
              <a:srgbClr val="4CAF50"/>
            </a:solidFill>
            <a:effectLst/>
          </c:spPr>
          <c:invertIfNegative val="0"/>
          <c:dPt>
            <c:idx val="0"/>
            <c:invertIfNegative val="0"/>
            <c:bubble3D val="0"/>
            <c:extLst>
              <c:ext xmlns:c16="http://schemas.microsoft.com/office/drawing/2014/chart" uri="{C3380CC4-5D6E-409C-BE32-E72D297353CC}">
                <c16:uniqueId val="{00000001-659A-48CD-81BF-F3543DBD0F57}"/>
              </c:ext>
            </c:extLst>
          </c:dPt>
          <c:dPt>
            <c:idx val="1"/>
            <c:invertIfNegative val="0"/>
            <c:bubble3D val="0"/>
            <c:spPr>
              <a:solidFill>
                <a:srgbClr val="2196F3"/>
              </a:solidFill>
              <a:effectLst/>
            </c:spPr>
            <c:extLst>
              <c:ext xmlns:c16="http://schemas.microsoft.com/office/drawing/2014/chart" uri="{C3380CC4-5D6E-409C-BE32-E72D297353CC}">
                <c16:uniqueId val="{00000003-659A-48CD-81BF-F3543DBD0F57}"/>
              </c:ext>
            </c:extLst>
          </c:dPt>
          <c:dPt>
            <c:idx val="2"/>
            <c:invertIfNegative val="0"/>
            <c:bubble3D val="0"/>
            <c:spPr>
              <a:solidFill>
                <a:srgbClr val="FF9800"/>
              </a:solidFill>
              <a:effectLst/>
            </c:spPr>
            <c:extLst>
              <c:ext xmlns:c16="http://schemas.microsoft.com/office/drawing/2014/chart" uri="{C3380CC4-5D6E-409C-BE32-E72D297353CC}">
                <c16:uniqueId val="{00000005-659A-48CD-81BF-F3543DBD0F57}"/>
              </c:ext>
            </c:extLst>
          </c:dPt>
          <c:dPt>
            <c:idx val="3"/>
            <c:invertIfNegative val="0"/>
            <c:bubble3D val="0"/>
            <c:spPr>
              <a:solidFill>
                <a:srgbClr val="9C27B0"/>
              </a:solidFill>
              <a:effectLst/>
            </c:spPr>
            <c:extLst>
              <c:ext xmlns:c16="http://schemas.microsoft.com/office/drawing/2014/chart" uri="{C3380CC4-5D6E-409C-BE32-E72D297353CC}">
                <c16:uniqueId val="{00000007-659A-48CD-81BF-F3543DBD0F57}"/>
              </c:ext>
            </c:extLst>
          </c:dPt>
          <c:dLbls>
            <c:numFmt formatCode="#,##0" sourceLinked="0"/>
            <c:spPr>
              <a:noFill/>
              <a:ln>
                <a:noFill/>
              </a:ln>
              <a:effectLst/>
            </c:spPr>
            <c:txPr>
              <a:bodyPr/>
              <a:lstStyle/>
              <a:p>
                <a:pPr>
                  <a:defRPr sz="12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Régression
Linéaire</c:v>
                </c:pt>
                <c:pt idx="1">
                  <c:v>Random
Forest</c:v>
                </c:pt>
                <c:pt idx="2">
                  <c:v>Gradient
Boosting</c:v>
                </c:pt>
                <c:pt idx="3">
                  <c:v>MLP</c:v>
                </c:pt>
              </c:strCache>
            </c:strRef>
          </c:cat>
          <c:val>
            <c:numRef>
              <c:f>Sheet1!$B$2:$B$5</c:f>
              <c:numCache>
                <c:formatCode>General</c:formatCode>
                <c:ptCount val="4"/>
                <c:pt idx="0">
                  <c:v>0.5</c:v>
                </c:pt>
                <c:pt idx="1">
                  <c:v>0.87</c:v>
                </c:pt>
                <c:pt idx="2">
                  <c:v>0.87</c:v>
                </c:pt>
                <c:pt idx="3">
                  <c:v>0.77</c:v>
                </c:pt>
              </c:numCache>
            </c:numRef>
          </c:val>
          <c:extLst>
            <c:ext xmlns:c16="http://schemas.microsoft.com/office/drawing/2014/chart" uri="{C3380CC4-5D6E-409C-BE32-E72D297353CC}">
              <c16:uniqueId val="{00000008-659A-48CD-81BF-F3543DBD0F5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scatterChart>
        <c:scatterStyle val="lineMarker"/>
        <c:varyColors val="0"/>
        <c:ser>
          <c:idx val="0"/>
          <c:order val="0"/>
          <c:tx>
            <c:strRef>
              <c:f>Sheet1!$B$1</c:f>
              <c:strCache>
                <c:ptCount val="1"/>
                <c:pt idx="0">
                  <c:v>Parfait</c:v>
                </c:pt>
              </c:strCache>
            </c:strRef>
          </c:tx>
          <c:spPr>
            <a:ln w="25400" cap="flat">
              <a:solidFill>
                <a:srgbClr val="66BB6A"/>
              </a:solidFill>
              <a:prstDash val="solid"/>
              <a:round/>
            </a:ln>
            <a:effectLst/>
          </c:spPr>
          <c:marker>
            <c:symbol val="circle"/>
            <c:size val="6"/>
            <c:spPr>
              <a:solidFill>
                <a:srgbClr val="66BB6A"/>
              </a:solidFill>
              <a:ln w="9525" cap="flat">
                <a:solidFill>
                  <a:srgbClr val="66BB6A"/>
                </a:solidFill>
                <a:prstDash val="solid"/>
                <a:round/>
              </a:ln>
              <a:effectLst/>
            </c:spPr>
          </c:marker>
          <c:xVal>
            <c:numRef>
              <c:f>Sheet1!$A$2:$A$11</c:f>
              <c:numCache>
                <c:formatCode>General</c:formatCode>
                <c:ptCount val="10"/>
                <c:pt idx="0">
                  <c:v>2.1</c:v>
                </c:pt>
                <c:pt idx="1">
                  <c:v>3.3</c:v>
                </c:pt>
                <c:pt idx="2">
                  <c:v>4</c:v>
                </c:pt>
                <c:pt idx="3">
                  <c:v>5.0999999999999996</c:v>
                </c:pt>
                <c:pt idx="4">
                  <c:v>5.8</c:v>
                </c:pt>
                <c:pt idx="5">
                  <c:v>3</c:v>
                </c:pt>
                <c:pt idx="6">
                  <c:v>4.4000000000000004</c:v>
                </c:pt>
                <c:pt idx="7">
                  <c:v>5.5</c:v>
                </c:pt>
                <c:pt idx="8">
                  <c:v>2.5</c:v>
                </c:pt>
                <c:pt idx="9">
                  <c:v>4.8</c:v>
                </c:pt>
              </c:numCache>
            </c:numRef>
          </c:xVal>
          <c:yVal>
            <c:numRef>
              <c:f>Sheet1!$B$2:$B$11</c:f>
              <c:numCache>
                <c:formatCode>General</c:formatCode>
                <c:ptCount val="10"/>
                <c:pt idx="0">
                  <c:v>2</c:v>
                </c:pt>
                <c:pt idx="1">
                  <c:v>3</c:v>
                </c:pt>
                <c:pt idx="2">
                  <c:v>4</c:v>
                </c:pt>
                <c:pt idx="3">
                  <c:v>5</c:v>
                </c:pt>
                <c:pt idx="4">
                  <c:v>6</c:v>
                </c:pt>
              </c:numCache>
            </c:numRef>
          </c:yVal>
          <c:smooth val="0"/>
          <c:extLst>
            <c:ext xmlns:c16="http://schemas.microsoft.com/office/drawing/2014/chart" uri="{C3380CC4-5D6E-409C-BE32-E72D297353CC}">
              <c16:uniqueId val="{00000000-1CF1-4CB7-BFA5-528EE499A45E}"/>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D9D9D9"/>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D9D9D9"/>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8FAFB"/>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Train</c:v>
                </c:pt>
              </c:strCache>
            </c:strRef>
          </c:tx>
          <c:spPr>
            <a:ln w="38100" cap="flat">
              <a:solidFill>
                <a:srgbClr val="388E3C"/>
              </a:solidFill>
              <a:prstDash val="solid"/>
              <a:round/>
            </a:ln>
            <a:effectLst/>
          </c:spPr>
          <c:marker>
            <c:symbol val="circle"/>
            <c:size val="6"/>
            <c:spPr>
              <a:solidFill>
                <a:srgbClr val="388E3C"/>
              </a:solidFill>
              <a:ln w="9525" cap="flat">
                <a:solidFill>
                  <a:srgbClr val="388E3C"/>
                </a:solidFill>
                <a:prstDash val="solid"/>
                <a:round/>
              </a:ln>
              <a:effectLst/>
            </c:spPr>
          </c:marker>
          <c:cat>
            <c:strRef>
              <c:f>Sheet1!$A$2:$A$6</c:f>
              <c:strCache>
                <c:ptCount val="5"/>
                <c:pt idx="0">
                  <c:v>200</c:v>
                </c:pt>
                <c:pt idx="1">
                  <c:v>400</c:v>
                </c:pt>
                <c:pt idx="2">
                  <c:v>600</c:v>
                </c:pt>
                <c:pt idx="3">
                  <c:v>800</c:v>
                </c:pt>
                <c:pt idx="4">
                  <c:v>1000</c:v>
                </c:pt>
              </c:strCache>
            </c:strRef>
          </c:cat>
          <c:val>
            <c:numRef>
              <c:f>Sheet1!$B$2:$B$6</c:f>
              <c:numCache>
                <c:formatCode>General</c:formatCode>
                <c:ptCount val="5"/>
                <c:pt idx="0">
                  <c:v>0.97</c:v>
                </c:pt>
                <c:pt idx="1">
                  <c:v>0.94</c:v>
                </c:pt>
                <c:pt idx="2">
                  <c:v>0.92</c:v>
                </c:pt>
                <c:pt idx="3">
                  <c:v>0.9</c:v>
                </c:pt>
                <c:pt idx="4">
                  <c:v>0.89</c:v>
                </c:pt>
              </c:numCache>
            </c:numRef>
          </c:val>
          <c:smooth val="0"/>
          <c:extLst>
            <c:ext xmlns:c16="http://schemas.microsoft.com/office/drawing/2014/chart" uri="{C3380CC4-5D6E-409C-BE32-E72D297353CC}">
              <c16:uniqueId val="{00000000-0BA1-4302-9A25-9AF2987F4C76}"/>
            </c:ext>
          </c:extLst>
        </c:ser>
        <c:ser>
          <c:idx val="1"/>
          <c:order val="1"/>
          <c:tx>
            <c:strRef>
              <c:f>Sheet1!$C$1</c:f>
              <c:strCache>
                <c:ptCount val="1"/>
                <c:pt idx="0">
                  <c:v>Test</c:v>
                </c:pt>
              </c:strCache>
            </c:strRef>
          </c:tx>
          <c:spPr>
            <a:ln w="38100" cap="flat">
              <a:solidFill>
                <a:srgbClr val="FF9800"/>
              </a:solidFill>
              <a:prstDash val="solid"/>
              <a:round/>
            </a:ln>
            <a:effectLst/>
          </c:spPr>
          <c:marker>
            <c:symbol val="circle"/>
            <c:size val="6"/>
            <c:spPr>
              <a:solidFill>
                <a:srgbClr val="FF9800"/>
              </a:solidFill>
              <a:ln w="9525" cap="flat">
                <a:solidFill>
                  <a:srgbClr val="FF9800"/>
                </a:solidFill>
                <a:prstDash val="solid"/>
                <a:round/>
              </a:ln>
              <a:effectLst/>
            </c:spPr>
          </c:marker>
          <c:cat>
            <c:strRef>
              <c:f>Sheet1!$A$2:$A$6</c:f>
              <c:strCache>
                <c:ptCount val="5"/>
                <c:pt idx="0">
                  <c:v>200</c:v>
                </c:pt>
                <c:pt idx="1">
                  <c:v>400</c:v>
                </c:pt>
                <c:pt idx="2">
                  <c:v>600</c:v>
                </c:pt>
                <c:pt idx="3">
                  <c:v>800</c:v>
                </c:pt>
                <c:pt idx="4">
                  <c:v>1000</c:v>
                </c:pt>
              </c:strCache>
            </c:strRef>
          </c:cat>
          <c:val>
            <c:numRef>
              <c:f>Sheet1!$C$2:$C$6</c:f>
              <c:numCache>
                <c:formatCode>General</c:formatCode>
                <c:ptCount val="5"/>
                <c:pt idx="0">
                  <c:v>0.65</c:v>
                </c:pt>
                <c:pt idx="1">
                  <c:v>0.74</c:v>
                </c:pt>
                <c:pt idx="2">
                  <c:v>0.8</c:v>
                </c:pt>
                <c:pt idx="3">
                  <c:v>0.85</c:v>
                </c:pt>
                <c:pt idx="4">
                  <c:v>0.87</c:v>
                </c:pt>
              </c:numCache>
            </c:numRef>
          </c:val>
          <c:smooth val="0"/>
          <c:extLst>
            <c:ext xmlns:c16="http://schemas.microsoft.com/office/drawing/2014/chart" uri="{C3380CC4-5D6E-409C-BE32-E72D297353CC}">
              <c16:uniqueId val="{00000001-0BA1-4302-9A25-9AF2987F4C7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8FAF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566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640080" y="914400"/>
            <a:ext cx="7863840" cy="164592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Prédiction Énergétique &amp;</a:t>
            </a:r>
            <a:endParaRPr lang="en-US" sz="4000" dirty="0"/>
          </a:p>
          <a:p>
            <a:pPr marL="0" indent="0" algn="ctr">
              <a:buNone/>
            </a:pPr>
            <a:r>
              <a:rPr lang="en-US" sz="4000" b="1" dirty="0">
                <a:solidFill>
                  <a:srgbClr val="FFFFFF"/>
                </a:solidFill>
                <a:latin typeface="Calibri" pitchFamily="34" charset="0"/>
                <a:ea typeface="Calibri" pitchFamily="34" charset="-122"/>
                <a:cs typeface="Calibri" pitchFamily="34" charset="-120"/>
              </a:rPr>
              <a:t>Émissions de CO₂</a:t>
            </a:r>
            <a:endParaRPr lang="en-US" sz="4000" dirty="0"/>
          </a:p>
        </p:txBody>
      </p:sp>
      <p:sp>
        <p:nvSpPr>
          <p:cNvPr id="4" name="Text 2"/>
          <p:cNvSpPr/>
          <p:nvPr/>
        </p:nvSpPr>
        <p:spPr>
          <a:xfrm>
            <a:off x="640080" y="2651760"/>
            <a:ext cx="7863840" cy="548640"/>
          </a:xfrm>
          <a:prstGeom prst="rect">
            <a:avLst/>
          </a:prstGeom>
          <a:noFill/>
          <a:ln/>
        </p:spPr>
        <p:txBody>
          <a:bodyPr wrap="square" rtlCol="0" anchor="ctr"/>
          <a:lstStyle/>
          <a:p>
            <a:pPr marL="0" indent="0" algn="ctr">
              <a:buNone/>
            </a:pPr>
            <a:r>
              <a:rPr lang="en-US" sz="1800" dirty="0">
                <a:solidFill>
                  <a:srgbClr val="02C39A"/>
                </a:solidFill>
                <a:latin typeface="Calibri" pitchFamily="34" charset="0"/>
                <a:ea typeface="Calibri" pitchFamily="34" charset="-122"/>
                <a:cs typeface="Calibri" pitchFamily="34" charset="-120"/>
              </a:rPr>
              <a:t>Analyse et Modélisation ML des Bâtiments de Seattle (2016)</a:t>
            </a:r>
            <a:endParaRPr lang="en-US" sz="1800" dirty="0"/>
          </a:p>
        </p:txBody>
      </p:sp>
      <p:sp>
        <p:nvSpPr>
          <p:cNvPr id="5" name="Shape 3"/>
          <p:cNvSpPr/>
          <p:nvPr/>
        </p:nvSpPr>
        <p:spPr>
          <a:xfrm>
            <a:off x="1188720" y="3383280"/>
            <a:ext cx="3474720" cy="1280160"/>
          </a:xfrm>
          <a:prstGeom prst="rect">
            <a:avLst/>
          </a:prstGeom>
          <a:solidFill>
            <a:srgbClr val="065A82"/>
          </a:solidFill>
          <a:ln w="12700">
            <a:solidFill>
              <a:srgbClr val="065A82"/>
            </a:solidFill>
            <a:prstDash val="solid"/>
          </a:ln>
        </p:spPr>
        <p:txBody>
          <a:bodyPr/>
          <a:lstStyle/>
          <a:p>
            <a:endParaRPr lang="fr-FR" dirty="0"/>
          </a:p>
        </p:txBody>
      </p:sp>
      <p:sp>
        <p:nvSpPr>
          <p:cNvPr id="6" name="Text 4"/>
          <p:cNvSpPr/>
          <p:nvPr/>
        </p:nvSpPr>
        <p:spPr>
          <a:xfrm>
            <a:off x="1188720" y="3429000"/>
            <a:ext cx="3474720" cy="342900"/>
          </a:xfrm>
          <a:prstGeom prst="rect">
            <a:avLst/>
          </a:prstGeom>
          <a:noFill/>
          <a:ln/>
        </p:spPr>
        <p:txBody>
          <a:bodyPr wrap="square" rtlCol="0" anchor="ctr"/>
          <a:lstStyle/>
          <a:p>
            <a:pPr marL="0" indent="0" algn="ctr">
              <a:buNone/>
            </a:pPr>
            <a:r>
              <a:rPr lang="en-US" sz="1400" dirty="0" err="1">
                <a:solidFill>
                  <a:schemeClr val="bg1"/>
                </a:solidFill>
              </a:rPr>
              <a:t>Formateur</a:t>
            </a:r>
            <a:r>
              <a:rPr lang="en-US" sz="1400" dirty="0">
                <a:solidFill>
                  <a:schemeClr val="bg1"/>
                </a:solidFill>
              </a:rPr>
              <a:t> : M. Fiacre </a:t>
            </a:r>
            <a:r>
              <a:rPr lang="en-US" sz="1400" b="1" dirty="0">
                <a:solidFill>
                  <a:schemeClr val="bg1"/>
                </a:solidFill>
              </a:rPr>
              <a:t>KAKPO</a:t>
            </a:r>
          </a:p>
        </p:txBody>
      </p:sp>
      <p:sp>
        <p:nvSpPr>
          <p:cNvPr id="7" name="Text 5"/>
          <p:cNvSpPr/>
          <p:nvPr/>
        </p:nvSpPr>
        <p:spPr>
          <a:xfrm>
            <a:off x="1188720" y="3794760"/>
            <a:ext cx="3474720" cy="822960"/>
          </a:xfrm>
          <a:prstGeom prst="rect">
            <a:avLst/>
          </a:prstGeom>
          <a:noFill/>
          <a:ln/>
        </p:spPr>
        <p:txBody>
          <a:bodyPr wrap="square" rtlCol="0" anchor="ctr"/>
          <a:lstStyle/>
          <a:p>
            <a:pPr marL="0" indent="0" algn="ctr">
              <a:buNone/>
            </a:pPr>
            <a:r>
              <a:rPr lang="en-US" sz="1200" dirty="0" err="1">
                <a:solidFill>
                  <a:srgbClr val="FFFFFF"/>
                </a:solidFill>
              </a:rPr>
              <a:t>Tuteur</a:t>
            </a:r>
            <a:r>
              <a:rPr lang="en-US" sz="1200" dirty="0">
                <a:solidFill>
                  <a:srgbClr val="FFFFFF"/>
                </a:solidFill>
              </a:rPr>
              <a:t> : M. </a:t>
            </a:r>
            <a:r>
              <a:rPr lang="en-US" sz="1200" b="1" dirty="0">
                <a:solidFill>
                  <a:srgbClr val="FFFFFF"/>
                </a:solidFill>
              </a:rPr>
              <a:t>TOGBO</a:t>
            </a:r>
            <a:r>
              <a:rPr lang="en-US" sz="1200" dirty="0">
                <a:solidFill>
                  <a:srgbClr val="FFFFFF"/>
                </a:solidFill>
              </a:rPr>
              <a:t> Kokou Shalom</a:t>
            </a:r>
            <a:endParaRPr lang="en-US" sz="1200" dirty="0"/>
          </a:p>
        </p:txBody>
      </p:sp>
      <p:sp>
        <p:nvSpPr>
          <p:cNvPr id="8" name="Shape 6"/>
          <p:cNvSpPr/>
          <p:nvPr/>
        </p:nvSpPr>
        <p:spPr>
          <a:xfrm>
            <a:off x="5303520" y="3383280"/>
            <a:ext cx="3474720" cy="1280160"/>
          </a:xfrm>
          <a:prstGeom prst="rect">
            <a:avLst/>
          </a:prstGeom>
          <a:solidFill>
            <a:srgbClr val="065A82"/>
          </a:solidFill>
          <a:ln w="12700">
            <a:solidFill>
              <a:srgbClr val="065A82"/>
            </a:solidFill>
            <a:prstDash val="solid"/>
          </a:ln>
        </p:spPr>
      </p:sp>
      <p:sp>
        <p:nvSpPr>
          <p:cNvPr id="9" name="Text 7"/>
          <p:cNvSpPr/>
          <p:nvPr/>
        </p:nvSpPr>
        <p:spPr>
          <a:xfrm>
            <a:off x="5303520" y="3429000"/>
            <a:ext cx="3474720" cy="1234438"/>
          </a:xfrm>
          <a:prstGeom prst="rect">
            <a:avLst/>
          </a:prstGeom>
          <a:noFill/>
          <a:ln/>
        </p:spPr>
        <p:txBody>
          <a:bodyPr wrap="square" rtlCol="0" anchor="ctr"/>
          <a:lstStyle/>
          <a:p>
            <a:pPr marL="0" indent="0" algn="ctr">
              <a:buNone/>
            </a:pPr>
            <a:r>
              <a:rPr lang="en-US" sz="1400" dirty="0" err="1">
                <a:solidFill>
                  <a:schemeClr val="bg1"/>
                </a:solidFill>
              </a:rPr>
              <a:t>Présenté</a:t>
            </a:r>
            <a:r>
              <a:rPr lang="en-US" sz="1400" dirty="0">
                <a:solidFill>
                  <a:schemeClr val="bg1"/>
                </a:solidFill>
              </a:rPr>
              <a:t> par </a:t>
            </a:r>
            <a:r>
              <a:rPr lang="en-US" sz="1400" b="1" dirty="0">
                <a:solidFill>
                  <a:schemeClr val="bg1"/>
                </a:solidFill>
              </a:rPr>
              <a:t>ALOKPA </a:t>
            </a:r>
            <a:r>
              <a:rPr lang="en-US" sz="1400" dirty="0">
                <a:solidFill>
                  <a:schemeClr val="bg1"/>
                </a:solidFill>
              </a:rPr>
              <a:t>Koku Etsè Joseph</a:t>
            </a:r>
          </a:p>
        </p:txBody>
      </p:sp>
      <p:sp>
        <p:nvSpPr>
          <p:cNvPr id="10" name="Text 8"/>
          <p:cNvSpPr/>
          <p:nvPr/>
        </p:nvSpPr>
        <p:spPr>
          <a:xfrm flipV="1">
            <a:off x="5303520" y="4617719"/>
            <a:ext cx="3474720" cy="45719"/>
          </a:xfrm>
          <a:prstGeom prst="rect">
            <a:avLst/>
          </a:prstGeom>
          <a:noFill/>
          <a:ln/>
        </p:spPr>
        <p:txBody>
          <a:bodyPr wrap="square" rtlCol="0" anchor="ctr"/>
          <a:lstStyle/>
          <a:p>
            <a:pPr marL="0" indent="0" algn="ctr">
              <a:buNone/>
            </a:pPr>
            <a:endParaRPr lang="en-US" sz="1200" dirty="0"/>
          </a:p>
        </p:txBody>
      </p:sp>
      <p:sp>
        <p:nvSpPr>
          <p:cNvPr id="11" name="Text 9"/>
          <p:cNvSpPr/>
          <p:nvPr/>
        </p:nvSpPr>
        <p:spPr>
          <a:xfrm>
            <a:off x="0" y="4754880"/>
            <a:ext cx="9144000" cy="365760"/>
          </a:xfrm>
          <a:prstGeom prst="rect">
            <a:avLst/>
          </a:prstGeom>
          <a:noFill/>
          <a:ln/>
        </p:spPr>
        <p:txBody>
          <a:bodyPr wrap="square" rtlCol="0" anchor="ctr"/>
          <a:lstStyle/>
          <a:p>
            <a:pPr marL="0" indent="0" algn="ctr">
              <a:buNone/>
            </a:pPr>
            <a:r>
              <a:rPr lang="en-US" sz="1000" dirty="0">
                <a:solidFill>
                  <a:srgbClr val="5A9BB5"/>
                </a:solidFill>
              </a:rPr>
              <a:t>Niveau Intermédiaire – Projet 2  |  Dataset: 2016 Building Energy Benchmarking</a:t>
            </a:r>
            <a:endParaRPr lang="en-US" sz="1000" dirty="0"/>
          </a:p>
        </p:txBody>
      </p:sp>
      <p:sp>
        <p:nvSpPr>
          <p:cNvPr id="12" name="Rectangle 11">
            <a:extLst>
              <a:ext uri="{FF2B5EF4-FFF2-40B4-BE49-F238E27FC236}">
                <a16:creationId xmlns:a16="http://schemas.microsoft.com/office/drawing/2014/main" id="{3AFDAC71-30A2-9CE2-E780-294F4EBBD2FF}"/>
              </a:ext>
            </a:extLst>
          </p:cNvPr>
          <p:cNvSpPr/>
          <p:nvPr/>
        </p:nvSpPr>
        <p:spPr>
          <a:xfrm>
            <a:off x="2084416" y="381346"/>
            <a:ext cx="4956464" cy="608907"/>
          </a:xfrm>
          <a:prstGeom prst="rect">
            <a:avLst/>
          </a:prstGeom>
          <a:solidFill>
            <a:srgbClr val="065A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b="1" dirty="0">
                <a:latin typeface="Britannic Bold" panose="020B0903060703020204" pitchFamily="34" charset="0"/>
              </a:rPr>
              <a:t>ENERGISIGHT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Contexte &amp; Jeu de Données</a:t>
            </a:r>
            <a:endParaRPr lang="en-US" sz="2400" dirty="0"/>
          </a:p>
        </p:txBody>
      </p:sp>
      <p:sp>
        <p:nvSpPr>
          <p:cNvPr id="4" name="Shape 2"/>
          <p:cNvSpPr/>
          <p:nvPr/>
        </p:nvSpPr>
        <p:spPr>
          <a:xfrm>
            <a:off x="274320" y="914400"/>
            <a:ext cx="1920240" cy="1280160"/>
          </a:xfrm>
          <a:prstGeom prst="rect">
            <a:avLst/>
          </a:prstGeom>
          <a:solidFill>
            <a:srgbClr val="065A82"/>
          </a:solidFill>
          <a:ln w="12700">
            <a:solidFill>
              <a:srgbClr val="065A82"/>
            </a:solidFill>
            <a:prstDash val="solid"/>
          </a:ln>
        </p:spPr>
      </p:sp>
      <p:sp>
        <p:nvSpPr>
          <p:cNvPr id="5" name="Text 3"/>
          <p:cNvSpPr/>
          <p:nvPr/>
        </p:nvSpPr>
        <p:spPr>
          <a:xfrm>
            <a:off x="274320" y="960120"/>
            <a:ext cx="1920240" cy="640080"/>
          </a:xfrm>
          <a:prstGeom prst="rect">
            <a:avLst/>
          </a:prstGeom>
          <a:noFill/>
          <a:ln/>
        </p:spPr>
        <p:txBody>
          <a:bodyPr wrap="square" rtlCol="0" anchor="ctr"/>
          <a:lstStyle/>
          <a:p>
            <a:pPr marL="0" indent="0" algn="ctr">
              <a:buNone/>
            </a:pPr>
            <a:r>
              <a:rPr lang="en-US" sz="2600" b="1" dirty="0">
                <a:solidFill>
                  <a:srgbClr val="02C39A"/>
                </a:solidFill>
              </a:rPr>
              <a:t>2016</a:t>
            </a:r>
            <a:endParaRPr lang="en-US" sz="2600" dirty="0"/>
          </a:p>
        </p:txBody>
      </p:sp>
      <p:sp>
        <p:nvSpPr>
          <p:cNvPr id="6" name="Text 4"/>
          <p:cNvSpPr/>
          <p:nvPr/>
        </p:nvSpPr>
        <p:spPr>
          <a:xfrm>
            <a:off x="274320" y="1600200"/>
            <a:ext cx="1920240" cy="502920"/>
          </a:xfrm>
          <a:prstGeom prst="rect">
            <a:avLst/>
          </a:prstGeom>
          <a:noFill/>
          <a:ln/>
        </p:spPr>
        <p:txBody>
          <a:bodyPr wrap="square" rtlCol="0" anchor="ctr"/>
          <a:lstStyle/>
          <a:p>
            <a:pPr marL="0" indent="0" algn="ctr">
              <a:buNone/>
            </a:pPr>
            <a:r>
              <a:rPr lang="en-US" sz="1100" dirty="0">
                <a:solidFill>
                  <a:srgbClr val="FFFFFF"/>
                </a:solidFill>
              </a:rPr>
              <a:t>Année des données</a:t>
            </a:r>
            <a:endParaRPr lang="en-US" sz="1100" dirty="0"/>
          </a:p>
        </p:txBody>
      </p:sp>
      <p:sp>
        <p:nvSpPr>
          <p:cNvPr id="7" name="Shape 5"/>
          <p:cNvSpPr/>
          <p:nvPr/>
        </p:nvSpPr>
        <p:spPr>
          <a:xfrm>
            <a:off x="2423160" y="914400"/>
            <a:ext cx="1920240" cy="1280160"/>
          </a:xfrm>
          <a:prstGeom prst="rect">
            <a:avLst/>
          </a:prstGeom>
          <a:solidFill>
            <a:srgbClr val="065A82"/>
          </a:solidFill>
          <a:ln w="12700">
            <a:solidFill>
              <a:srgbClr val="065A82"/>
            </a:solidFill>
            <a:prstDash val="solid"/>
          </a:ln>
        </p:spPr>
      </p:sp>
      <p:sp>
        <p:nvSpPr>
          <p:cNvPr id="8" name="Text 6"/>
          <p:cNvSpPr/>
          <p:nvPr/>
        </p:nvSpPr>
        <p:spPr>
          <a:xfrm>
            <a:off x="2423160" y="960120"/>
            <a:ext cx="1920240" cy="640080"/>
          </a:xfrm>
          <a:prstGeom prst="rect">
            <a:avLst/>
          </a:prstGeom>
          <a:noFill/>
          <a:ln/>
        </p:spPr>
        <p:txBody>
          <a:bodyPr wrap="square" rtlCol="0" anchor="ctr"/>
          <a:lstStyle/>
          <a:p>
            <a:pPr marL="0" indent="0" algn="ctr">
              <a:buNone/>
            </a:pPr>
            <a:r>
              <a:rPr lang="en-US" sz="2600" b="1" dirty="0">
                <a:solidFill>
                  <a:srgbClr val="02C39A"/>
                </a:solidFill>
              </a:rPr>
              <a:t>Seattle</a:t>
            </a:r>
            <a:endParaRPr lang="en-US" sz="2600" dirty="0"/>
          </a:p>
        </p:txBody>
      </p:sp>
      <p:sp>
        <p:nvSpPr>
          <p:cNvPr id="9" name="Text 7"/>
          <p:cNvSpPr/>
          <p:nvPr/>
        </p:nvSpPr>
        <p:spPr>
          <a:xfrm>
            <a:off x="2423160" y="1600200"/>
            <a:ext cx="1920240" cy="502920"/>
          </a:xfrm>
          <a:prstGeom prst="rect">
            <a:avLst/>
          </a:prstGeom>
          <a:noFill/>
          <a:ln/>
        </p:spPr>
        <p:txBody>
          <a:bodyPr wrap="square" rtlCol="0" anchor="ctr"/>
          <a:lstStyle/>
          <a:p>
            <a:pPr marL="0" indent="0" algn="ctr">
              <a:buNone/>
            </a:pPr>
            <a:r>
              <a:rPr lang="en-US" sz="1100" dirty="0">
                <a:solidFill>
                  <a:srgbClr val="FFFFFF"/>
                </a:solidFill>
              </a:rPr>
              <a:t>Ville (USA)</a:t>
            </a:r>
            <a:endParaRPr lang="en-US" sz="1100" dirty="0"/>
          </a:p>
        </p:txBody>
      </p:sp>
      <p:sp>
        <p:nvSpPr>
          <p:cNvPr id="10" name="Shape 8"/>
          <p:cNvSpPr/>
          <p:nvPr/>
        </p:nvSpPr>
        <p:spPr>
          <a:xfrm>
            <a:off x="4572000" y="914400"/>
            <a:ext cx="1920240" cy="1280160"/>
          </a:xfrm>
          <a:prstGeom prst="rect">
            <a:avLst/>
          </a:prstGeom>
          <a:solidFill>
            <a:srgbClr val="065A82"/>
          </a:solidFill>
          <a:ln w="12700">
            <a:solidFill>
              <a:srgbClr val="065A82"/>
            </a:solidFill>
            <a:prstDash val="solid"/>
          </a:ln>
        </p:spPr>
      </p:sp>
      <p:sp>
        <p:nvSpPr>
          <p:cNvPr id="11" name="Text 9"/>
          <p:cNvSpPr/>
          <p:nvPr/>
        </p:nvSpPr>
        <p:spPr>
          <a:xfrm>
            <a:off x="4572000" y="960120"/>
            <a:ext cx="1920240" cy="640080"/>
          </a:xfrm>
          <a:prstGeom prst="rect">
            <a:avLst/>
          </a:prstGeom>
          <a:noFill/>
          <a:ln/>
        </p:spPr>
        <p:txBody>
          <a:bodyPr wrap="square" rtlCol="0" anchor="ctr"/>
          <a:lstStyle/>
          <a:p>
            <a:pPr marL="0" indent="0" algn="ctr">
              <a:buNone/>
            </a:pPr>
            <a:r>
              <a:rPr lang="en-US" sz="2600" b="1" dirty="0">
                <a:solidFill>
                  <a:srgbClr val="02C39A"/>
                </a:solidFill>
              </a:rPr>
              <a:t>~3 500</a:t>
            </a:r>
            <a:endParaRPr lang="en-US" sz="2600" dirty="0"/>
          </a:p>
        </p:txBody>
      </p:sp>
      <p:sp>
        <p:nvSpPr>
          <p:cNvPr id="12" name="Text 10"/>
          <p:cNvSpPr/>
          <p:nvPr/>
        </p:nvSpPr>
        <p:spPr>
          <a:xfrm>
            <a:off x="4572000" y="1600200"/>
            <a:ext cx="1920240" cy="502920"/>
          </a:xfrm>
          <a:prstGeom prst="rect">
            <a:avLst/>
          </a:prstGeom>
          <a:noFill/>
          <a:ln/>
        </p:spPr>
        <p:txBody>
          <a:bodyPr wrap="square" rtlCol="0" anchor="ctr"/>
          <a:lstStyle/>
          <a:p>
            <a:pPr marL="0" indent="0" algn="ctr">
              <a:buNone/>
            </a:pPr>
            <a:r>
              <a:rPr lang="en-US" sz="1100" dirty="0">
                <a:solidFill>
                  <a:srgbClr val="FFFFFF"/>
                </a:solidFill>
              </a:rPr>
              <a:t>Bâtiments analysés</a:t>
            </a:r>
            <a:endParaRPr lang="en-US" sz="1100" dirty="0"/>
          </a:p>
        </p:txBody>
      </p:sp>
      <p:sp>
        <p:nvSpPr>
          <p:cNvPr id="13" name="Shape 11"/>
          <p:cNvSpPr/>
          <p:nvPr/>
        </p:nvSpPr>
        <p:spPr>
          <a:xfrm>
            <a:off x="6720840" y="914400"/>
            <a:ext cx="1920240" cy="1280160"/>
          </a:xfrm>
          <a:prstGeom prst="rect">
            <a:avLst/>
          </a:prstGeom>
          <a:solidFill>
            <a:srgbClr val="065A82"/>
          </a:solidFill>
          <a:ln w="12700">
            <a:solidFill>
              <a:srgbClr val="065A82"/>
            </a:solidFill>
            <a:prstDash val="solid"/>
          </a:ln>
        </p:spPr>
      </p:sp>
      <p:sp>
        <p:nvSpPr>
          <p:cNvPr id="14" name="Text 12"/>
          <p:cNvSpPr/>
          <p:nvPr/>
        </p:nvSpPr>
        <p:spPr>
          <a:xfrm>
            <a:off x="6720840" y="960120"/>
            <a:ext cx="1920240" cy="640080"/>
          </a:xfrm>
          <a:prstGeom prst="rect">
            <a:avLst/>
          </a:prstGeom>
          <a:noFill/>
          <a:ln/>
        </p:spPr>
        <p:txBody>
          <a:bodyPr wrap="square" rtlCol="0" anchor="ctr"/>
          <a:lstStyle/>
          <a:p>
            <a:pPr marL="0" indent="0" algn="ctr">
              <a:buNone/>
            </a:pPr>
            <a:r>
              <a:rPr lang="en-US" sz="2600" b="1" dirty="0">
                <a:solidFill>
                  <a:srgbClr val="02C39A"/>
                </a:solidFill>
              </a:rPr>
              <a:t>2 Cibles</a:t>
            </a:r>
            <a:endParaRPr lang="en-US" sz="2600" dirty="0"/>
          </a:p>
        </p:txBody>
      </p:sp>
      <p:sp>
        <p:nvSpPr>
          <p:cNvPr id="15" name="Text 13"/>
          <p:cNvSpPr/>
          <p:nvPr/>
        </p:nvSpPr>
        <p:spPr>
          <a:xfrm>
            <a:off x="6720840" y="1600200"/>
            <a:ext cx="1920240" cy="502920"/>
          </a:xfrm>
          <a:prstGeom prst="rect">
            <a:avLst/>
          </a:prstGeom>
          <a:noFill/>
          <a:ln/>
        </p:spPr>
        <p:txBody>
          <a:bodyPr wrap="square" rtlCol="0" anchor="ctr"/>
          <a:lstStyle/>
          <a:p>
            <a:pPr marL="0" indent="0" algn="ctr">
              <a:buNone/>
            </a:pPr>
            <a:r>
              <a:rPr lang="en-US" sz="1100" dirty="0">
                <a:solidFill>
                  <a:srgbClr val="FFFFFF"/>
                </a:solidFill>
              </a:rPr>
              <a:t>SiteEnergyUse &amp; CO₂</a:t>
            </a:r>
            <a:endParaRPr lang="en-US" sz="1100" dirty="0"/>
          </a:p>
        </p:txBody>
      </p:sp>
      <p:sp>
        <p:nvSpPr>
          <p:cNvPr id="16" name="Text 14"/>
          <p:cNvSpPr/>
          <p:nvPr/>
        </p:nvSpPr>
        <p:spPr>
          <a:xfrm>
            <a:off x="457200" y="2423160"/>
            <a:ext cx="8229600" cy="320040"/>
          </a:xfrm>
          <a:prstGeom prst="rect">
            <a:avLst/>
          </a:prstGeom>
          <a:noFill/>
          <a:ln/>
        </p:spPr>
        <p:txBody>
          <a:bodyPr wrap="square" rtlCol="0" anchor="ctr"/>
          <a:lstStyle/>
          <a:p>
            <a:pPr marL="0" indent="0">
              <a:buNone/>
            </a:pPr>
            <a:r>
              <a:rPr lang="en-US" sz="1600" b="1" dirty="0">
                <a:solidFill>
                  <a:srgbClr val="065A82"/>
                </a:solidFill>
              </a:rPr>
              <a:t>Objectif</a:t>
            </a:r>
            <a:endParaRPr lang="en-US" sz="1600" dirty="0"/>
          </a:p>
        </p:txBody>
      </p:sp>
      <p:sp>
        <p:nvSpPr>
          <p:cNvPr id="17" name="Text 15"/>
          <p:cNvSpPr/>
          <p:nvPr/>
        </p:nvSpPr>
        <p:spPr>
          <a:xfrm>
            <a:off x="457200" y="2743200"/>
            <a:ext cx="8229600" cy="1280160"/>
          </a:xfrm>
          <a:prstGeom prst="rect">
            <a:avLst/>
          </a:prstGeom>
          <a:noFill/>
          <a:ln/>
        </p:spPr>
        <p:txBody>
          <a:bodyPr wrap="square" rtlCol="0" anchor="ctr"/>
          <a:lstStyle/>
          <a:p>
            <a:pPr marL="0" indent="0">
              <a:buNone/>
            </a:pPr>
            <a:r>
              <a:rPr lang="en-US" sz="1300" dirty="0">
                <a:solidFill>
                  <a:srgbClr val="0B3D4E"/>
                </a:solidFill>
                <a:latin typeface="Calibri" pitchFamily="34" charset="0"/>
                <a:ea typeface="Calibri" pitchFamily="34" charset="-122"/>
                <a:cs typeface="Calibri" pitchFamily="34" charset="-120"/>
              </a:rPr>
              <a:t>Ce projet utilise le dataset public de benchmarking énergétique de la ville de Seattle pour entraîner des modèles de Machine Learning capables de prédire (1) la consommation d'énergie d'un bâtiment (SiteEnergyUse en kBtu) et (2) ses émissions de gaz à effet de serre (TotalGHGEmissions). L'objectif est de comparer plusieurs algorithmes et d'identifier le plus performant.</a:t>
            </a:r>
            <a:endParaRPr lang="en-US" sz="1300" dirty="0"/>
          </a:p>
        </p:txBody>
      </p:sp>
      <p:sp>
        <p:nvSpPr>
          <p:cNvPr id="18" name="Text 16"/>
          <p:cNvSpPr/>
          <p:nvPr/>
        </p:nvSpPr>
        <p:spPr>
          <a:xfrm>
            <a:off x="457200" y="4069080"/>
            <a:ext cx="8229600" cy="274320"/>
          </a:xfrm>
          <a:prstGeom prst="rect">
            <a:avLst/>
          </a:prstGeom>
          <a:noFill/>
          <a:ln/>
        </p:spPr>
        <p:txBody>
          <a:bodyPr wrap="square" rtlCol="0" anchor="ctr"/>
          <a:lstStyle/>
          <a:p>
            <a:pPr marL="0" indent="0">
              <a:buNone/>
            </a:pPr>
            <a:r>
              <a:rPr lang="en-US" sz="1300" b="1" dirty="0">
                <a:solidFill>
                  <a:srgbClr val="065A82"/>
                </a:solidFill>
              </a:rPr>
              <a:t>Variables principales utilisées :</a:t>
            </a:r>
            <a:endParaRPr lang="en-US" sz="1300" dirty="0"/>
          </a:p>
        </p:txBody>
      </p:sp>
      <p:sp>
        <p:nvSpPr>
          <p:cNvPr id="19" name="Text 17"/>
          <p:cNvSpPr/>
          <p:nvPr/>
        </p:nvSpPr>
        <p:spPr>
          <a:xfrm>
            <a:off x="457200" y="4370832"/>
            <a:ext cx="8229600" cy="365760"/>
          </a:xfrm>
          <a:prstGeom prst="rect">
            <a:avLst/>
          </a:prstGeom>
          <a:noFill/>
          <a:ln/>
        </p:spPr>
        <p:txBody>
          <a:bodyPr wrap="square" rtlCol="0" anchor="ctr"/>
          <a:lstStyle/>
          <a:p>
            <a:pPr marL="0" indent="0">
              <a:buNone/>
            </a:pPr>
            <a:r>
              <a:rPr lang="en-US" sz="1200" i="1" dirty="0">
                <a:solidFill>
                  <a:srgbClr val="0B3D4E"/>
                </a:solidFill>
              </a:rPr>
              <a:t>BuildingType, PrimaryPropertyType, YearBuilt, NumberofFloors, PropertyGFATotal, Latitude, Longitude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3D4E"/>
          </a:solidFill>
          <a:ln w="12700">
            <a:solidFill>
              <a:srgbClr val="0B3D4E"/>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400" b="1" dirty="0">
                <a:solidFill>
                  <a:srgbClr val="FFFFFF"/>
                </a:solidFill>
              </a:rPr>
              <a:t>Pipeline de Machine Learning</a:t>
            </a:r>
            <a:endParaRPr lang="en-US" sz="2400" dirty="0"/>
          </a:p>
        </p:txBody>
      </p:sp>
      <p:sp>
        <p:nvSpPr>
          <p:cNvPr id="4" name="Shape 2"/>
          <p:cNvSpPr/>
          <p:nvPr/>
        </p:nvSpPr>
        <p:spPr>
          <a:xfrm>
            <a:off x="1645920" y="1965960"/>
            <a:ext cx="338328" cy="109728"/>
          </a:xfrm>
          <a:prstGeom prst="rect">
            <a:avLst/>
          </a:prstGeom>
          <a:solidFill>
            <a:srgbClr val="02C39A"/>
          </a:solidFill>
          <a:ln w="12700">
            <a:solidFill>
              <a:srgbClr val="02C39A"/>
            </a:solidFill>
            <a:prstDash val="solid"/>
          </a:ln>
        </p:spPr>
      </p:sp>
      <p:sp>
        <p:nvSpPr>
          <p:cNvPr id="5" name="Shape 3"/>
          <p:cNvSpPr/>
          <p:nvPr/>
        </p:nvSpPr>
        <p:spPr>
          <a:xfrm>
            <a:off x="274320" y="914400"/>
            <a:ext cx="1371600" cy="457200"/>
          </a:xfrm>
          <a:prstGeom prst="rect">
            <a:avLst/>
          </a:prstGeom>
          <a:solidFill>
            <a:srgbClr val="02C39A"/>
          </a:solidFill>
          <a:ln w="12700">
            <a:solidFill>
              <a:srgbClr val="02C39A"/>
            </a:solidFill>
            <a:prstDash val="solid"/>
          </a:ln>
        </p:spPr>
      </p:sp>
      <p:sp>
        <p:nvSpPr>
          <p:cNvPr id="6" name="Text 4"/>
          <p:cNvSpPr/>
          <p:nvPr/>
        </p:nvSpPr>
        <p:spPr>
          <a:xfrm>
            <a:off x="274320" y="960120"/>
            <a:ext cx="1371600" cy="365760"/>
          </a:xfrm>
          <a:prstGeom prst="rect">
            <a:avLst/>
          </a:prstGeom>
          <a:noFill/>
          <a:ln/>
        </p:spPr>
        <p:txBody>
          <a:bodyPr wrap="square" rtlCol="0" anchor="ctr"/>
          <a:lstStyle/>
          <a:p>
            <a:pPr marL="0" indent="0" algn="ctr">
              <a:buNone/>
            </a:pPr>
            <a:r>
              <a:rPr lang="en-US" sz="2000" b="1" dirty="0">
                <a:solidFill>
                  <a:srgbClr val="0B3D4E"/>
                </a:solidFill>
              </a:rPr>
              <a:t>1</a:t>
            </a:r>
            <a:endParaRPr lang="en-US" sz="2000" dirty="0"/>
          </a:p>
        </p:txBody>
      </p:sp>
      <p:sp>
        <p:nvSpPr>
          <p:cNvPr id="7" name="Shape 5"/>
          <p:cNvSpPr/>
          <p:nvPr/>
        </p:nvSpPr>
        <p:spPr>
          <a:xfrm>
            <a:off x="274320" y="1371600"/>
            <a:ext cx="1371600" cy="2377440"/>
          </a:xfrm>
          <a:prstGeom prst="rect">
            <a:avLst/>
          </a:prstGeom>
          <a:solidFill>
            <a:srgbClr val="E8F4F8"/>
          </a:solidFill>
          <a:ln w="12700">
            <a:solidFill>
              <a:srgbClr val="C8DDE8"/>
            </a:solidFill>
            <a:prstDash val="solid"/>
          </a:ln>
        </p:spPr>
      </p:sp>
      <p:sp>
        <p:nvSpPr>
          <p:cNvPr id="8" name="Text 6"/>
          <p:cNvSpPr/>
          <p:nvPr/>
        </p:nvSpPr>
        <p:spPr>
          <a:xfrm>
            <a:off x="274320" y="1417320"/>
            <a:ext cx="1371600" cy="365760"/>
          </a:xfrm>
          <a:prstGeom prst="rect">
            <a:avLst/>
          </a:prstGeom>
          <a:noFill/>
          <a:ln/>
        </p:spPr>
        <p:txBody>
          <a:bodyPr wrap="square" rtlCol="0" anchor="ctr"/>
          <a:lstStyle/>
          <a:p>
            <a:pPr marL="0" indent="0" algn="ctr">
              <a:buNone/>
            </a:pPr>
            <a:r>
              <a:rPr lang="en-US" sz="1300" b="1" dirty="0">
                <a:solidFill>
                  <a:srgbClr val="065A82"/>
                </a:solidFill>
              </a:rPr>
              <a:t>Nettoyage</a:t>
            </a:r>
            <a:endParaRPr lang="en-US" sz="1300" dirty="0"/>
          </a:p>
        </p:txBody>
      </p:sp>
      <p:sp>
        <p:nvSpPr>
          <p:cNvPr id="9" name="Text 7"/>
          <p:cNvSpPr/>
          <p:nvPr/>
        </p:nvSpPr>
        <p:spPr>
          <a:xfrm>
            <a:off x="320040" y="1783080"/>
            <a:ext cx="1280160" cy="1828800"/>
          </a:xfrm>
          <a:prstGeom prst="rect">
            <a:avLst/>
          </a:prstGeom>
          <a:noFill/>
          <a:ln/>
        </p:spPr>
        <p:txBody>
          <a:bodyPr wrap="square" rtlCol="0" anchor="ctr"/>
          <a:lstStyle/>
          <a:p>
            <a:pPr marL="0" indent="0" algn="ctr">
              <a:buNone/>
            </a:pPr>
            <a:r>
              <a:rPr lang="en-US" sz="1100" dirty="0">
                <a:solidFill>
                  <a:srgbClr val="0B3D4E"/>
                </a:solidFill>
              </a:rPr>
              <a:t>Suppression des colonnes</a:t>
            </a:r>
            <a:endParaRPr lang="en-US" sz="1100" dirty="0"/>
          </a:p>
          <a:p>
            <a:pPr marL="0" indent="0" algn="ctr">
              <a:buNone/>
            </a:pPr>
            <a:r>
              <a:rPr lang="en-US" sz="1100" dirty="0">
                <a:solidFill>
                  <a:srgbClr val="0B3D4E"/>
                </a:solidFill>
              </a:rPr>
              <a:t>inutiles, traitement des</a:t>
            </a:r>
            <a:endParaRPr lang="en-US" sz="1100" dirty="0"/>
          </a:p>
          <a:p>
            <a:pPr marL="0" indent="0" algn="ctr">
              <a:buNone/>
            </a:pPr>
            <a:r>
              <a:rPr lang="en-US" sz="1100" dirty="0">
                <a:solidFill>
                  <a:srgbClr val="0B3D4E"/>
                </a:solidFill>
              </a:rPr>
              <a:t>valeurs nulles</a:t>
            </a:r>
            <a:endParaRPr lang="en-US" sz="1100" dirty="0"/>
          </a:p>
        </p:txBody>
      </p:sp>
      <p:sp>
        <p:nvSpPr>
          <p:cNvPr id="10" name="Shape 8"/>
          <p:cNvSpPr/>
          <p:nvPr/>
        </p:nvSpPr>
        <p:spPr>
          <a:xfrm>
            <a:off x="3355848" y="1965960"/>
            <a:ext cx="338328" cy="109728"/>
          </a:xfrm>
          <a:prstGeom prst="rect">
            <a:avLst/>
          </a:prstGeom>
          <a:solidFill>
            <a:srgbClr val="02C39A"/>
          </a:solidFill>
          <a:ln w="12700">
            <a:solidFill>
              <a:srgbClr val="02C39A"/>
            </a:solidFill>
            <a:prstDash val="solid"/>
          </a:ln>
        </p:spPr>
      </p:sp>
      <p:sp>
        <p:nvSpPr>
          <p:cNvPr id="11" name="Shape 9"/>
          <p:cNvSpPr/>
          <p:nvPr/>
        </p:nvSpPr>
        <p:spPr>
          <a:xfrm>
            <a:off x="1984248" y="914400"/>
            <a:ext cx="1371600" cy="457200"/>
          </a:xfrm>
          <a:prstGeom prst="rect">
            <a:avLst/>
          </a:prstGeom>
          <a:solidFill>
            <a:srgbClr val="02C39A"/>
          </a:solidFill>
          <a:ln w="12700">
            <a:solidFill>
              <a:srgbClr val="02C39A"/>
            </a:solidFill>
            <a:prstDash val="solid"/>
          </a:ln>
        </p:spPr>
      </p:sp>
      <p:sp>
        <p:nvSpPr>
          <p:cNvPr id="12" name="Text 10"/>
          <p:cNvSpPr/>
          <p:nvPr/>
        </p:nvSpPr>
        <p:spPr>
          <a:xfrm>
            <a:off x="1984248" y="960120"/>
            <a:ext cx="1371600" cy="365760"/>
          </a:xfrm>
          <a:prstGeom prst="rect">
            <a:avLst/>
          </a:prstGeom>
          <a:noFill/>
          <a:ln/>
        </p:spPr>
        <p:txBody>
          <a:bodyPr wrap="square" rtlCol="0" anchor="ctr"/>
          <a:lstStyle/>
          <a:p>
            <a:pPr marL="0" indent="0" algn="ctr">
              <a:buNone/>
            </a:pPr>
            <a:r>
              <a:rPr lang="en-US" sz="2000" b="1" dirty="0">
                <a:solidFill>
                  <a:srgbClr val="0B3D4E"/>
                </a:solidFill>
              </a:rPr>
              <a:t>2</a:t>
            </a:r>
            <a:endParaRPr lang="en-US" sz="2000" dirty="0"/>
          </a:p>
        </p:txBody>
      </p:sp>
      <p:sp>
        <p:nvSpPr>
          <p:cNvPr id="13" name="Shape 11"/>
          <p:cNvSpPr/>
          <p:nvPr/>
        </p:nvSpPr>
        <p:spPr>
          <a:xfrm>
            <a:off x="1984248" y="1371600"/>
            <a:ext cx="1371600" cy="2377440"/>
          </a:xfrm>
          <a:prstGeom prst="rect">
            <a:avLst/>
          </a:prstGeom>
          <a:solidFill>
            <a:srgbClr val="E8F4F8"/>
          </a:solidFill>
          <a:ln w="12700">
            <a:solidFill>
              <a:srgbClr val="C8DDE8"/>
            </a:solidFill>
            <a:prstDash val="solid"/>
          </a:ln>
        </p:spPr>
      </p:sp>
      <p:sp>
        <p:nvSpPr>
          <p:cNvPr id="14" name="Text 12"/>
          <p:cNvSpPr/>
          <p:nvPr/>
        </p:nvSpPr>
        <p:spPr>
          <a:xfrm>
            <a:off x="1984248" y="1417320"/>
            <a:ext cx="1371600" cy="365760"/>
          </a:xfrm>
          <a:prstGeom prst="rect">
            <a:avLst/>
          </a:prstGeom>
          <a:noFill/>
          <a:ln/>
        </p:spPr>
        <p:txBody>
          <a:bodyPr wrap="square" rtlCol="0" anchor="ctr"/>
          <a:lstStyle/>
          <a:p>
            <a:pPr marL="0" indent="0" algn="ctr">
              <a:buNone/>
            </a:pPr>
            <a:r>
              <a:rPr lang="en-US" sz="1300" b="1" dirty="0">
                <a:solidFill>
                  <a:srgbClr val="065A82"/>
                </a:solidFill>
              </a:rPr>
              <a:t>Prétraitement</a:t>
            </a:r>
            <a:endParaRPr lang="en-US" sz="1300" dirty="0"/>
          </a:p>
        </p:txBody>
      </p:sp>
      <p:sp>
        <p:nvSpPr>
          <p:cNvPr id="15" name="Text 13"/>
          <p:cNvSpPr/>
          <p:nvPr/>
        </p:nvSpPr>
        <p:spPr>
          <a:xfrm>
            <a:off x="2029968" y="1783080"/>
            <a:ext cx="1280160" cy="1828800"/>
          </a:xfrm>
          <a:prstGeom prst="rect">
            <a:avLst/>
          </a:prstGeom>
          <a:noFill/>
          <a:ln/>
        </p:spPr>
        <p:txBody>
          <a:bodyPr wrap="square" rtlCol="0" anchor="ctr"/>
          <a:lstStyle/>
          <a:p>
            <a:pPr marL="0" indent="0" algn="ctr">
              <a:buNone/>
            </a:pPr>
            <a:r>
              <a:rPr lang="en-US" sz="1100" dirty="0">
                <a:solidFill>
                  <a:srgbClr val="0B3D4E"/>
                </a:solidFill>
              </a:rPr>
              <a:t>Imputation médiane,</a:t>
            </a:r>
            <a:endParaRPr lang="en-US" sz="1100" dirty="0"/>
          </a:p>
          <a:p>
            <a:pPr marL="0" indent="0" algn="ctr">
              <a:buNone/>
            </a:pPr>
            <a:r>
              <a:rPr lang="en-US" sz="1100" dirty="0">
                <a:solidFill>
                  <a:srgbClr val="0B3D4E"/>
                </a:solidFill>
              </a:rPr>
              <a:t>StandardScaler,</a:t>
            </a:r>
            <a:endParaRPr lang="en-US" sz="1100" dirty="0"/>
          </a:p>
          <a:p>
            <a:pPr marL="0" indent="0" algn="ctr">
              <a:buNone/>
            </a:pPr>
            <a:r>
              <a:rPr lang="en-US" sz="1100" dirty="0">
                <a:solidFill>
                  <a:srgbClr val="0B3D4E"/>
                </a:solidFill>
              </a:rPr>
              <a:t>OneHotEncoding</a:t>
            </a:r>
            <a:endParaRPr lang="en-US" sz="1100" dirty="0"/>
          </a:p>
        </p:txBody>
      </p:sp>
      <p:sp>
        <p:nvSpPr>
          <p:cNvPr id="16" name="Shape 14"/>
          <p:cNvSpPr/>
          <p:nvPr/>
        </p:nvSpPr>
        <p:spPr>
          <a:xfrm>
            <a:off x="5065776" y="1965960"/>
            <a:ext cx="338328" cy="109728"/>
          </a:xfrm>
          <a:prstGeom prst="rect">
            <a:avLst/>
          </a:prstGeom>
          <a:solidFill>
            <a:srgbClr val="02C39A"/>
          </a:solidFill>
          <a:ln w="12700">
            <a:solidFill>
              <a:srgbClr val="02C39A"/>
            </a:solidFill>
            <a:prstDash val="solid"/>
          </a:ln>
        </p:spPr>
      </p:sp>
      <p:sp>
        <p:nvSpPr>
          <p:cNvPr id="17" name="Shape 15"/>
          <p:cNvSpPr/>
          <p:nvPr/>
        </p:nvSpPr>
        <p:spPr>
          <a:xfrm>
            <a:off x="3694176" y="914400"/>
            <a:ext cx="1371600" cy="457200"/>
          </a:xfrm>
          <a:prstGeom prst="rect">
            <a:avLst/>
          </a:prstGeom>
          <a:solidFill>
            <a:srgbClr val="02C39A"/>
          </a:solidFill>
          <a:ln w="12700">
            <a:solidFill>
              <a:srgbClr val="02C39A"/>
            </a:solidFill>
            <a:prstDash val="solid"/>
          </a:ln>
        </p:spPr>
      </p:sp>
      <p:sp>
        <p:nvSpPr>
          <p:cNvPr id="18" name="Text 16"/>
          <p:cNvSpPr/>
          <p:nvPr/>
        </p:nvSpPr>
        <p:spPr>
          <a:xfrm>
            <a:off x="3694176" y="960120"/>
            <a:ext cx="1371600" cy="365760"/>
          </a:xfrm>
          <a:prstGeom prst="rect">
            <a:avLst/>
          </a:prstGeom>
          <a:noFill/>
          <a:ln/>
        </p:spPr>
        <p:txBody>
          <a:bodyPr wrap="square" rtlCol="0" anchor="ctr"/>
          <a:lstStyle/>
          <a:p>
            <a:pPr marL="0" indent="0" algn="ctr">
              <a:buNone/>
            </a:pPr>
            <a:r>
              <a:rPr lang="en-US" sz="2000" b="1" dirty="0">
                <a:solidFill>
                  <a:srgbClr val="0B3D4E"/>
                </a:solidFill>
              </a:rPr>
              <a:t>3</a:t>
            </a:r>
            <a:endParaRPr lang="en-US" sz="2000" dirty="0"/>
          </a:p>
        </p:txBody>
      </p:sp>
      <p:sp>
        <p:nvSpPr>
          <p:cNvPr id="19" name="Shape 17"/>
          <p:cNvSpPr/>
          <p:nvPr/>
        </p:nvSpPr>
        <p:spPr>
          <a:xfrm>
            <a:off x="3694176" y="1371600"/>
            <a:ext cx="1371600" cy="2377440"/>
          </a:xfrm>
          <a:prstGeom prst="rect">
            <a:avLst/>
          </a:prstGeom>
          <a:solidFill>
            <a:srgbClr val="E8F4F8"/>
          </a:solidFill>
          <a:ln w="12700">
            <a:solidFill>
              <a:srgbClr val="C8DDE8"/>
            </a:solidFill>
            <a:prstDash val="solid"/>
          </a:ln>
        </p:spPr>
      </p:sp>
      <p:sp>
        <p:nvSpPr>
          <p:cNvPr id="20" name="Text 18"/>
          <p:cNvSpPr/>
          <p:nvPr/>
        </p:nvSpPr>
        <p:spPr>
          <a:xfrm>
            <a:off x="3694176" y="1417320"/>
            <a:ext cx="1371600" cy="365760"/>
          </a:xfrm>
          <a:prstGeom prst="rect">
            <a:avLst/>
          </a:prstGeom>
          <a:noFill/>
          <a:ln/>
        </p:spPr>
        <p:txBody>
          <a:bodyPr wrap="square" rtlCol="0" anchor="ctr"/>
          <a:lstStyle/>
          <a:p>
            <a:pPr marL="0" indent="0" algn="ctr">
              <a:buNone/>
            </a:pPr>
            <a:r>
              <a:rPr lang="en-US" sz="1300" b="1" dirty="0">
                <a:solidFill>
                  <a:srgbClr val="065A82"/>
                </a:solidFill>
              </a:rPr>
              <a:t>Transform.</a:t>
            </a:r>
            <a:endParaRPr lang="en-US" sz="1300" dirty="0"/>
          </a:p>
        </p:txBody>
      </p:sp>
      <p:sp>
        <p:nvSpPr>
          <p:cNvPr id="21" name="Text 19"/>
          <p:cNvSpPr/>
          <p:nvPr/>
        </p:nvSpPr>
        <p:spPr>
          <a:xfrm>
            <a:off x="3739896" y="1783080"/>
            <a:ext cx="1280160" cy="1828800"/>
          </a:xfrm>
          <a:prstGeom prst="rect">
            <a:avLst/>
          </a:prstGeom>
          <a:noFill/>
          <a:ln/>
        </p:spPr>
        <p:txBody>
          <a:bodyPr wrap="square" rtlCol="0" anchor="ctr"/>
          <a:lstStyle/>
          <a:p>
            <a:pPr marL="0" indent="0" algn="ctr">
              <a:buNone/>
            </a:pPr>
            <a:r>
              <a:rPr lang="en-US" sz="1100" dirty="0">
                <a:solidFill>
                  <a:srgbClr val="0B3D4E"/>
                </a:solidFill>
              </a:rPr>
              <a:t>Log1p sur la variable</a:t>
            </a:r>
            <a:endParaRPr lang="en-US" sz="1100" dirty="0"/>
          </a:p>
          <a:p>
            <a:pPr marL="0" indent="0" algn="ctr">
              <a:buNone/>
            </a:pPr>
            <a:r>
              <a:rPr lang="en-US" sz="1100" dirty="0">
                <a:solidFill>
                  <a:srgbClr val="0B3D4E"/>
                </a:solidFill>
              </a:rPr>
              <a:t>cible (distribution</a:t>
            </a:r>
            <a:endParaRPr lang="en-US" sz="1100" dirty="0"/>
          </a:p>
          <a:p>
            <a:pPr marL="0" indent="0" algn="ctr">
              <a:buNone/>
            </a:pPr>
            <a:r>
              <a:rPr lang="en-US" sz="1100" dirty="0">
                <a:solidFill>
                  <a:srgbClr val="0B3D4E"/>
                </a:solidFill>
              </a:rPr>
              <a:t>asymétrique → normale)</a:t>
            </a:r>
            <a:endParaRPr lang="en-US" sz="1100" dirty="0"/>
          </a:p>
        </p:txBody>
      </p:sp>
      <p:sp>
        <p:nvSpPr>
          <p:cNvPr id="22" name="Shape 20"/>
          <p:cNvSpPr/>
          <p:nvPr/>
        </p:nvSpPr>
        <p:spPr>
          <a:xfrm>
            <a:off x="6775704" y="1965960"/>
            <a:ext cx="338328" cy="109728"/>
          </a:xfrm>
          <a:prstGeom prst="rect">
            <a:avLst/>
          </a:prstGeom>
          <a:solidFill>
            <a:srgbClr val="02C39A"/>
          </a:solidFill>
          <a:ln w="12700">
            <a:solidFill>
              <a:srgbClr val="02C39A"/>
            </a:solidFill>
            <a:prstDash val="solid"/>
          </a:ln>
        </p:spPr>
      </p:sp>
      <p:sp>
        <p:nvSpPr>
          <p:cNvPr id="23" name="Shape 21"/>
          <p:cNvSpPr/>
          <p:nvPr/>
        </p:nvSpPr>
        <p:spPr>
          <a:xfrm>
            <a:off x="5404104" y="914400"/>
            <a:ext cx="1371600" cy="457200"/>
          </a:xfrm>
          <a:prstGeom prst="rect">
            <a:avLst/>
          </a:prstGeom>
          <a:solidFill>
            <a:srgbClr val="02C39A"/>
          </a:solidFill>
          <a:ln w="12700">
            <a:solidFill>
              <a:srgbClr val="02C39A"/>
            </a:solidFill>
            <a:prstDash val="solid"/>
          </a:ln>
        </p:spPr>
      </p:sp>
      <p:sp>
        <p:nvSpPr>
          <p:cNvPr id="24" name="Text 22"/>
          <p:cNvSpPr/>
          <p:nvPr/>
        </p:nvSpPr>
        <p:spPr>
          <a:xfrm>
            <a:off x="5404104" y="960120"/>
            <a:ext cx="1371600" cy="365760"/>
          </a:xfrm>
          <a:prstGeom prst="rect">
            <a:avLst/>
          </a:prstGeom>
          <a:noFill/>
          <a:ln/>
        </p:spPr>
        <p:txBody>
          <a:bodyPr wrap="square" rtlCol="0" anchor="ctr"/>
          <a:lstStyle/>
          <a:p>
            <a:pPr marL="0" indent="0" algn="ctr">
              <a:buNone/>
            </a:pPr>
            <a:r>
              <a:rPr lang="en-US" sz="2000" b="1" dirty="0">
                <a:solidFill>
                  <a:srgbClr val="0B3D4E"/>
                </a:solidFill>
              </a:rPr>
              <a:t>4</a:t>
            </a:r>
            <a:endParaRPr lang="en-US" sz="2000" dirty="0"/>
          </a:p>
        </p:txBody>
      </p:sp>
      <p:sp>
        <p:nvSpPr>
          <p:cNvPr id="25" name="Shape 23"/>
          <p:cNvSpPr/>
          <p:nvPr/>
        </p:nvSpPr>
        <p:spPr>
          <a:xfrm>
            <a:off x="5404104" y="1371600"/>
            <a:ext cx="1371600" cy="2377440"/>
          </a:xfrm>
          <a:prstGeom prst="rect">
            <a:avLst/>
          </a:prstGeom>
          <a:solidFill>
            <a:srgbClr val="E8F4F8"/>
          </a:solidFill>
          <a:ln w="12700">
            <a:solidFill>
              <a:srgbClr val="C8DDE8"/>
            </a:solidFill>
            <a:prstDash val="solid"/>
          </a:ln>
        </p:spPr>
      </p:sp>
      <p:sp>
        <p:nvSpPr>
          <p:cNvPr id="26" name="Text 24"/>
          <p:cNvSpPr/>
          <p:nvPr/>
        </p:nvSpPr>
        <p:spPr>
          <a:xfrm>
            <a:off x="5404104" y="1417320"/>
            <a:ext cx="1371600" cy="365760"/>
          </a:xfrm>
          <a:prstGeom prst="rect">
            <a:avLst/>
          </a:prstGeom>
          <a:noFill/>
          <a:ln/>
        </p:spPr>
        <p:txBody>
          <a:bodyPr wrap="square" rtlCol="0" anchor="ctr"/>
          <a:lstStyle/>
          <a:p>
            <a:pPr marL="0" indent="0" algn="ctr">
              <a:buNone/>
            </a:pPr>
            <a:r>
              <a:rPr lang="en-US" sz="1300" b="1" dirty="0">
                <a:solidFill>
                  <a:srgbClr val="065A82"/>
                </a:solidFill>
              </a:rPr>
              <a:t>Modélisation</a:t>
            </a:r>
            <a:endParaRPr lang="en-US" sz="1300" dirty="0"/>
          </a:p>
        </p:txBody>
      </p:sp>
      <p:sp>
        <p:nvSpPr>
          <p:cNvPr id="27" name="Text 25"/>
          <p:cNvSpPr/>
          <p:nvPr/>
        </p:nvSpPr>
        <p:spPr>
          <a:xfrm>
            <a:off x="5449824" y="1783080"/>
            <a:ext cx="1280160" cy="1828800"/>
          </a:xfrm>
          <a:prstGeom prst="rect">
            <a:avLst/>
          </a:prstGeom>
          <a:noFill/>
          <a:ln/>
        </p:spPr>
        <p:txBody>
          <a:bodyPr wrap="square" rtlCol="0" anchor="ctr"/>
          <a:lstStyle/>
          <a:p>
            <a:pPr marL="0" indent="0" algn="ctr">
              <a:buNone/>
            </a:pPr>
            <a:r>
              <a:rPr lang="en-US" sz="1100" dirty="0">
                <a:solidFill>
                  <a:srgbClr val="0B3D4E"/>
                </a:solidFill>
              </a:rPr>
              <a:t>4 modèles entraînés</a:t>
            </a:r>
            <a:endParaRPr lang="en-US" sz="1100" dirty="0"/>
          </a:p>
          <a:p>
            <a:pPr marL="0" indent="0" algn="ctr">
              <a:buNone/>
            </a:pPr>
            <a:r>
              <a:rPr lang="en-US" sz="1100" dirty="0">
                <a:solidFill>
                  <a:srgbClr val="0B3D4E"/>
                </a:solidFill>
              </a:rPr>
              <a:t>et comparés</a:t>
            </a:r>
            <a:endParaRPr lang="en-US" sz="1100" dirty="0"/>
          </a:p>
        </p:txBody>
      </p:sp>
      <p:sp>
        <p:nvSpPr>
          <p:cNvPr id="28" name="Shape 26"/>
          <p:cNvSpPr/>
          <p:nvPr/>
        </p:nvSpPr>
        <p:spPr>
          <a:xfrm>
            <a:off x="7114032" y="914400"/>
            <a:ext cx="1371600" cy="457200"/>
          </a:xfrm>
          <a:prstGeom prst="rect">
            <a:avLst/>
          </a:prstGeom>
          <a:solidFill>
            <a:srgbClr val="02C39A"/>
          </a:solidFill>
          <a:ln w="12700">
            <a:solidFill>
              <a:srgbClr val="02C39A"/>
            </a:solidFill>
            <a:prstDash val="solid"/>
          </a:ln>
        </p:spPr>
      </p:sp>
      <p:sp>
        <p:nvSpPr>
          <p:cNvPr id="29" name="Text 27"/>
          <p:cNvSpPr/>
          <p:nvPr/>
        </p:nvSpPr>
        <p:spPr>
          <a:xfrm>
            <a:off x="7114032" y="960120"/>
            <a:ext cx="1371600" cy="365760"/>
          </a:xfrm>
          <a:prstGeom prst="rect">
            <a:avLst/>
          </a:prstGeom>
          <a:noFill/>
          <a:ln/>
        </p:spPr>
        <p:txBody>
          <a:bodyPr wrap="square" rtlCol="0" anchor="ctr"/>
          <a:lstStyle/>
          <a:p>
            <a:pPr marL="0" indent="0" algn="ctr">
              <a:buNone/>
            </a:pPr>
            <a:r>
              <a:rPr lang="en-US" sz="2000" b="1" dirty="0">
                <a:solidFill>
                  <a:srgbClr val="0B3D4E"/>
                </a:solidFill>
              </a:rPr>
              <a:t>5</a:t>
            </a:r>
            <a:endParaRPr lang="en-US" sz="2000" dirty="0"/>
          </a:p>
        </p:txBody>
      </p:sp>
      <p:sp>
        <p:nvSpPr>
          <p:cNvPr id="30" name="Shape 28"/>
          <p:cNvSpPr/>
          <p:nvPr/>
        </p:nvSpPr>
        <p:spPr>
          <a:xfrm>
            <a:off x="7114032" y="1371600"/>
            <a:ext cx="1371600" cy="2377440"/>
          </a:xfrm>
          <a:prstGeom prst="rect">
            <a:avLst/>
          </a:prstGeom>
          <a:solidFill>
            <a:srgbClr val="E8F4F8"/>
          </a:solidFill>
          <a:ln w="12700">
            <a:solidFill>
              <a:srgbClr val="C8DDE8"/>
            </a:solidFill>
            <a:prstDash val="solid"/>
          </a:ln>
        </p:spPr>
      </p:sp>
      <p:sp>
        <p:nvSpPr>
          <p:cNvPr id="31" name="Text 29"/>
          <p:cNvSpPr/>
          <p:nvPr/>
        </p:nvSpPr>
        <p:spPr>
          <a:xfrm>
            <a:off x="7114032" y="1417320"/>
            <a:ext cx="1371600" cy="365760"/>
          </a:xfrm>
          <a:prstGeom prst="rect">
            <a:avLst/>
          </a:prstGeom>
          <a:noFill/>
          <a:ln/>
        </p:spPr>
        <p:txBody>
          <a:bodyPr wrap="square" rtlCol="0" anchor="ctr"/>
          <a:lstStyle/>
          <a:p>
            <a:pPr marL="0" indent="0" algn="ctr">
              <a:buNone/>
            </a:pPr>
            <a:r>
              <a:rPr lang="en-US" sz="1300" b="1" dirty="0">
                <a:solidFill>
                  <a:srgbClr val="065A82"/>
                </a:solidFill>
              </a:rPr>
              <a:t>Évaluation</a:t>
            </a:r>
            <a:endParaRPr lang="en-US" sz="1300" dirty="0"/>
          </a:p>
        </p:txBody>
      </p:sp>
      <p:sp>
        <p:nvSpPr>
          <p:cNvPr id="32" name="Text 30"/>
          <p:cNvSpPr/>
          <p:nvPr/>
        </p:nvSpPr>
        <p:spPr>
          <a:xfrm>
            <a:off x="7159752" y="1783080"/>
            <a:ext cx="1280160" cy="1828800"/>
          </a:xfrm>
          <a:prstGeom prst="rect">
            <a:avLst/>
          </a:prstGeom>
          <a:noFill/>
          <a:ln/>
        </p:spPr>
        <p:txBody>
          <a:bodyPr wrap="square" rtlCol="0" anchor="ctr"/>
          <a:lstStyle/>
          <a:p>
            <a:pPr marL="0" indent="0" algn="ctr">
              <a:buNone/>
            </a:pPr>
            <a:r>
              <a:rPr lang="en-US" sz="1100" dirty="0">
                <a:solidFill>
                  <a:srgbClr val="0B3D4E"/>
                </a:solidFill>
              </a:rPr>
              <a:t>R², RMSE sur</a:t>
            </a:r>
            <a:endParaRPr lang="en-US" sz="1100" dirty="0"/>
          </a:p>
          <a:p>
            <a:pPr marL="0" indent="0" algn="ctr">
              <a:buNone/>
            </a:pPr>
            <a:r>
              <a:rPr lang="en-US" sz="1100" dirty="0">
                <a:solidFill>
                  <a:srgbClr val="0B3D4E"/>
                </a:solidFill>
              </a:rPr>
              <a:t>jeu de test</a:t>
            </a:r>
            <a:endParaRPr lang="en-US" sz="1100" dirty="0"/>
          </a:p>
          <a:p>
            <a:pPr marL="0" indent="0" algn="ctr">
              <a:buNone/>
            </a:pPr>
            <a:r>
              <a:rPr lang="en-US" sz="1100" dirty="0">
                <a:solidFill>
                  <a:srgbClr val="0B3D4E"/>
                </a:solidFill>
              </a:rPr>
              <a:t>(80/20 split)</a:t>
            </a:r>
            <a:endParaRPr lang="en-US" sz="1100" dirty="0"/>
          </a:p>
        </p:txBody>
      </p:sp>
      <p:sp>
        <p:nvSpPr>
          <p:cNvPr id="33" name="Text 31"/>
          <p:cNvSpPr/>
          <p:nvPr/>
        </p:nvSpPr>
        <p:spPr>
          <a:xfrm>
            <a:off x="457200" y="3886200"/>
            <a:ext cx="8229600" cy="320040"/>
          </a:xfrm>
          <a:prstGeom prst="rect">
            <a:avLst/>
          </a:prstGeom>
          <a:noFill/>
          <a:ln/>
        </p:spPr>
        <p:txBody>
          <a:bodyPr wrap="square" rtlCol="0" anchor="ctr"/>
          <a:lstStyle/>
          <a:p>
            <a:pPr marL="0" indent="0">
              <a:buNone/>
            </a:pPr>
            <a:r>
              <a:rPr lang="en-US" sz="1400" b="1" dirty="0">
                <a:solidFill>
                  <a:srgbClr val="0B3D4E"/>
                </a:solidFill>
              </a:rPr>
              <a:t>Modèles comparés :</a:t>
            </a:r>
            <a:endParaRPr lang="en-US" sz="1400" dirty="0"/>
          </a:p>
        </p:txBody>
      </p:sp>
      <p:sp>
        <p:nvSpPr>
          <p:cNvPr id="34" name="Shape 32"/>
          <p:cNvSpPr/>
          <p:nvPr/>
        </p:nvSpPr>
        <p:spPr>
          <a:xfrm>
            <a:off x="457200" y="4251960"/>
            <a:ext cx="1874520" cy="594360"/>
          </a:xfrm>
          <a:prstGeom prst="rect">
            <a:avLst/>
          </a:prstGeom>
          <a:solidFill>
            <a:srgbClr val="4CAF50"/>
          </a:solidFill>
          <a:ln w="12700">
            <a:solidFill>
              <a:srgbClr val="4CAF50"/>
            </a:solidFill>
            <a:prstDash val="solid"/>
          </a:ln>
        </p:spPr>
      </p:sp>
      <p:sp>
        <p:nvSpPr>
          <p:cNvPr id="35" name="Text 33"/>
          <p:cNvSpPr/>
          <p:nvPr/>
        </p:nvSpPr>
        <p:spPr>
          <a:xfrm>
            <a:off x="457200" y="4279392"/>
            <a:ext cx="1874520" cy="548640"/>
          </a:xfrm>
          <a:prstGeom prst="rect">
            <a:avLst/>
          </a:prstGeom>
          <a:noFill/>
          <a:ln/>
        </p:spPr>
        <p:txBody>
          <a:bodyPr wrap="square" rtlCol="0" anchor="ctr"/>
          <a:lstStyle/>
          <a:p>
            <a:pPr marL="0" indent="0" algn="ctr">
              <a:buNone/>
            </a:pPr>
            <a:r>
              <a:rPr lang="en-US" sz="1100" b="1" dirty="0">
                <a:solidFill>
                  <a:srgbClr val="FFFFFF"/>
                </a:solidFill>
              </a:rPr>
              <a:t>Régression Linéaire</a:t>
            </a:r>
            <a:endParaRPr lang="en-US" sz="1100" dirty="0"/>
          </a:p>
        </p:txBody>
      </p:sp>
      <p:sp>
        <p:nvSpPr>
          <p:cNvPr id="36" name="Shape 34"/>
          <p:cNvSpPr/>
          <p:nvPr/>
        </p:nvSpPr>
        <p:spPr>
          <a:xfrm>
            <a:off x="2514600" y="4251960"/>
            <a:ext cx="1874520" cy="594360"/>
          </a:xfrm>
          <a:prstGeom prst="rect">
            <a:avLst/>
          </a:prstGeom>
          <a:solidFill>
            <a:srgbClr val="2196F3"/>
          </a:solidFill>
          <a:ln w="12700">
            <a:solidFill>
              <a:srgbClr val="2196F3"/>
            </a:solidFill>
            <a:prstDash val="solid"/>
          </a:ln>
        </p:spPr>
      </p:sp>
      <p:sp>
        <p:nvSpPr>
          <p:cNvPr id="37" name="Text 35"/>
          <p:cNvSpPr/>
          <p:nvPr/>
        </p:nvSpPr>
        <p:spPr>
          <a:xfrm>
            <a:off x="2514600" y="4279392"/>
            <a:ext cx="1874520" cy="548640"/>
          </a:xfrm>
          <a:prstGeom prst="rect">
            <a:avLst/>
          </a:prstGeom>
          <a:noFill/>
          <a:ln/>
        </p:spPr>
        <p:txBody>
          <a:bodyPr wrap="square" rtlCol="0" anchor="ctr"/>
          <a:lstStyle/>
          <a:p>
            <a:pPr marL="0" indent="0" algn="ctr">
              <a:buNone/>
            </a:pPr>
            <a:r>
              <a:rPr lang="en-US" sz="1100" b="1" dirty="0">
                <a:solidFill>
                  <a:srgbClr val="FFFFFF"/>
                </a:solidFill>
              </a:rPr>
              <a:t>Random Forest</a:t>
            </a:r>
            <a:endParaRPr lang="en-US" sz="1100" dirty="0"/>
          </a:p>
        </p:txBody>
      </p:sp>
      <p:sp>
        <p:nvSpPr>
          <p:cNvPr id="38" name="Shape 36"/>
          <p:cNvSpPr/>
          <p:nvPr/>
        </p:nvSpPr>
        <p:spPr>
          <a:xfrm>
            <a:off x="4572000" y="4251960"/>
            <a:ext cx="1874520" cy="594360"/>
          </a:xfrm>
          <a:prstGeom prst="rect">
            <a:avLst/>
          </a:prstGeom>
          <a:solidFill>
            <a:srgbClr val="FF9800"/>
          </a:solidFill>
          <a:ln w="12700">
            <a:solidFill>
              <a:srgbClr val="FF9800"/>
            </a:solidFill>
            <a:prstDash val="solid"/>
          </a:ln>
        </p:spPr>
      </p:sp>
      <p:sp>
        <p:nvSpPr>
          <p:cNvPr id="39" name="Text 37"/>
          <p:cNvSpPr/>
          <p:nvPr/>
        </p:nvSpPr>
        <p:spPr>
          <a:xfrm>
            <a:off x="4572000" y="4279392"/>
            <a:ext cx="1874520" cy="548640"/>
          </a:xfrm>
          <a:prstGeom prst="rect">
            <a:avLst/>
          </a:prstGeom>
          <a:noFill/>
          <a:ln/>
        </p:spPr>
        <p:txBody>
          <a:bodyPr wrap="square" rtlCol="0" anchor="ctr"/>
          <a:lstStyle/>
          <a:p>
            <a:pPr marL="0" indent="0" algn="ctr">
              <a:buNone/>
            </a:pPr>
            <a:r>
              <a:rPr lang="en-US" sz="1100" b="1" dirty="0">
                <a:solidFill>
                  <a:srgbClr val="FFFFFF"/>
                </a:solidFill>
              </a:rPr>
              <a:t>Gradient Boosting</a:t>
            </a:r>
            <a:endParaRPr lang="en-US" sz="1100" dirty="0"/>
          </a:p>
        </p:txBody>
      </p:sp>
      <p:sp>
        <p:nvSpPr>
          <p:cNvPr id="40" name="Shape 38"/>
          <p:cNvSpPr/>
          <p:nvPr/>
        </p:nvSpPr>
        <p:spPr>
          <a:xfrm>
            <a:off x="6629400" y="4251960"/>
            <a:ext cx="1874520" cy="594360"/>
          </a:xfrm>
          <a:prstGeom prst="rect">
            <a:avLst/>
          </a:prstGeom>
          <a:solidFill>
            <a:srgbClr val="9C27B0"/>
          </a:solidFill>
          <a:ln w="12700">
            <a:solidFill>
              <a:srgbClr val="9C27B0"/>
            </a:solidFill>
            <a:prstDash val="solid"/>
          </a:ln>
        </p:spPr>
      </p:sp>
      <p:sp>
        <p:nvSpPr>
          <p:cNvPr id="41" name="Text 39"/>
          <p:cNvSpPr/>
          <p:nvPr/>
        </p:nvSpPr>
        <p:spPr>
          <a:xfrm>
            <a:off x="6629400" y="4279392"/>
            <a:ext cx="1874520" cy="548640"/>
          </a:xfrm>
          <a:prstGeom prst="rect">
            <a:avLst/>
          </a:prstGeom>
          <a:noFill/>
          <a:ln/>
        </p:spPr>
        <p:txBody>
          <a:bodyPr wrap="square" rtlCol="0" anchor="ctr"/>
          <a:lstStyle/>
          <a:p>
            <a:pPr marL="0" indent="0" algn="ctr">
              <a:buNone/>
            </a:pPr>
            <a:r>
              <a:rPr lang="en-US" sz="1100" b="1" dirty="0">
                <a:solidFill>
                  <a:srgbClr val="FFFFFF"/>
                </a:solidFill>
              </a:rPr>
              <a:t>MLP (Réseau de Neurones)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200" b="1" dirty="0">
                <a:solidFill>
                  <a:srgbClr val="FFFFFF"/>
                </a:solidFill>
              </a:rPr>
              <a:t>Projet 1 – Énergie : Distribution &amp; Prétraitement</a:t>
            </a:r>
            <a:endParaRPr lang="en-US" sz="2200" dirty="0"/>
          </a:p>
        </p:txBody>
      </p:sp>
      <p:sp>
        <p:nvSpPr>
          <p:cNvPr id="4" name="Text 2"/>
          <p:cNvSpPr/>
          <p:nvPr/>
        </p:nvSpPr>
        <p:spPr>
          <a:xfrm>
            <a:off x="365760" y="868680"/>
            <a:ext cx="3931920" cy="320040"/>
          </a:xfrm>
          <a:prstGeom prst="rect">
            <a:avLst/>
          </a:prstGeom>
          <a:noFill/>
          <a:ln/>
        </p:spPr>
        <p:txBody>
          <a:bodyPr wrap="square" rtlCol="0" anchor="ctr"/>
          <a:lstStyle/>
          <a:p>
            <a:pPr marL="0" indent="0" algn="ctr">
              <a:buNone/>
            </a:pPr>
            <a:r>
              <a:rPr lang="en-US" sz="1300" b="1" dirty="0">
                <a:solidFill>
                  <a:srgbClr val="065A82"/>
                </a:solidFill>
              </a:rPr>
              <a:t>Distribution brute (asymétrique)</a:t>
            </a:r>
            <a:endParaRPr lang="en-US" sz="1300" dirty="0"/>
          </a:p>
        </p:txBody>
      </p:sp>
      <p:graphicFrame>
        <p:nvGraphicFramePr>
          <p:cNvPr id="5" name="Chart 0"/>
          <p:cNvGraphicFramePr/>
          <p:nvPr/>
        </p:nvGraphicFramePr>
        <p:xfrm>
          <a:off x="274320" y="1188720"/>
          <a:ext cx="39319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274320" y="3566160"/>
            <a:ext cx="3931920" cy="274320"/>
          </a:xfrm>
          <a:prstGeom prst="rect">
            <a:avLst/>
          </a:prstGeom>
          <a:noFill/>
          <a:ln/>
        </p:spPr>
        <p:txBody>
          <a:bodyPr wrap="square" rtlCol="0" anchor="ctr"/>
          <a:lstStyle/>
          <a:p>
            <a:pPr marL="0" indent="0" algn="ctr">
              <a:buNone/>
            </a:pPr>
            <a:r>
              <a:rPr lang="en-US" sz="1000" dirty="0">
                <a:solidFill>
                  <a:srgbClr val="64748B"/>
                </a:solidFill>
              </a:rPr>
              <a:t>kBtu (regroupés)</a:t>
            </a:r>
            <a:endParaRPr lang="en-US" sz="1000" dirty="0"/>
          </a:p>
        </p:txBody>
      </p:sp>
      <p:sp>
        <p:nvSpPr>
          <p:cNvPr id="7" name="Text 4"/>
          <p:cNvSpPr/>
          <p:nvPr/>
        </p:nvSpPr>
        <p:spPr>
          <a:xfrm>
            <a:off x="4754880" y="868680"/>
            <a:ext cx="3931920" cy="320040"/>
          </a:xfrm>
          <a:prstGeom prst="rect">
            <a:avLst/>
          </a:prstGeom>
          <a:noFill/>
          <a:ln/>
        </p:spPr>
        <p:txBody>
          <a:bodyPr wrap="square" rtlCol="0" anchor="ctr"/>
          <a:lstStyle/>
          <a:p>
            <a:pPr marL="0" indent="0" algn="ctr">
              <a:buNone/>
            </a:pPr>
            <a:r>
              <a:rPr lang="en-US" sz="1300" b="1" dirty="0">
                <a:solidFill>
                  <a:srgbClr val="02C39A"/>
                </a:solidFill>
              </a:rPr>
              <a:t>Après transformation log1p (normale)</a:t>
            </a:r>
            <a:endParaRPr lang="en-US" sz="1300" dirty="0"/>
          </a:p>
        </p:txBody>
      </p:sp>
      <p:graphicFrame>
        <p:nvGraphicFramePr>
          <p:cNvPr id="8" name="Chart 1"/>
          <p:cNvGraphicFramePr/>
          <p:nvPr/>
        </p:nvGraphicFramePr>
        <p:xfrm>
          <a:off x="4663440" y="1188720"/>
          <a:ext cx="3931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4663440" y="3566160"/>
            <a:ext cx="3931920" cy="274320"/>
          </a:xfrm>
          <a:prstGeom prst="rect">
            <a:avLst/>
          </a:prstGeom>
          <a:noFill/>
          <a:ln/>
        </p:spPr>
        <p:txBody>
          <a:bodyPr wrap="square" rtlCol="0" anchor="ctr"/>
          <a:lstStyle/>
          <a:p>
            <a:pPr marL="0" indent="0" algn="ctr">
              <a:buNone/>
            </a:pPr>
            <a:r>
              <a:rPr lang="en-US" sz="1000" dirty="0">
                <a:solidFill>
                  <a:srgbClr val="64748B"/>
                </a:solidFill>
              </a:rPr>
              <a:t>log(kBtu)</a:t>
            </a:r>
            <a:endParaRPr lang="en-US" sz="1000" dirty="0"/>
          </a:p>
        </p:txBody>
      </p:sp>
      <p:sp>
        <p:nvSpPr>
          <p:cNvPr id="10" name="Text 6"/>
          <p:cNvSpPr/>
          <p:nvPr/>
        </p:nvSpPr>
        <p:spPr>
          <a:xfrm>
            <a:off x="365760" y="3931920"/>
            <a:ext cx="8412480" cy="914400"/>
          </a:xfrm>
          <a:prstGeom prst="rect">
            <a:avLst/>
          </a:prstGeom>
          <a:noFill/>
          <a:ln/>
        </p:spPr>
        <p:txBody>
          <a:bodyPr wrap="square" rtlCol="0" anchor="ctr"/>
          <a:lstStyle/>
          <a:p>
            <a:pPr marL="0" indent="0">
              <a:buNone/>
            </a:pPr>
            <a:r>
              <a:rPr lang="en-US" sz="1200" dirty="0">
                <a:solidFill>
                  <a:srgbClr val="0B3D4E"/>
                </a:solidFill>
              </a:rPr>
              <a:t>La distribution brute de la consommation énergétique est fortement asymétrique (queue longue à droite). Une transformation logarithmique (log1p) est appliquée pour la rendre approximativement normale, ce qui améliore significativement les performances des modèles linéaires et neuronaux.</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3D4E"/>
          </a:solidFill>
          <a:ln w="12700">
            <a:solidFill>
              <a:srgbClr val="0B3D4E"/>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200" b="1" dirty="0">
                <a:solidFill>
                  <a:srgbClr val="FFFFFF"/>
                </a:solidFill>
              </a:rPr>
              <a:t>Projet 1 – Énergie : Comparaison des Modèles (R²)</a:t>
            </a:r>
            <a:endParaRPr lang="en-US" sz="2200" dirty="0"/>
          </a:p>
        </p:txBody>
      </p:sp>
      <p:graphicFrame>
        <p:nvGraphicFramePr>
          <p:cNvPr id="4" name="Chart 0"/>
          <p:cNvGraphicFramePr/>
          <p:nvPr/>
        </p:nvGraphicFramePr>
        <p:xfrm>
          <a:off x="365760" y="822960"/>
          <a:ext cx="530352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52160" y="914400"/>
          <a:ext cx="3017520" cy="2560320"/>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1206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Modèle</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solidFill>
                      <a:srgbClr val="0B3D4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solidFill>
                      <a:srgbClr val="0B3D4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Classement</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solidFill>
                      <a:srgbClr val="0B3D4E"/>
                    </a:solidFill>
                  </a:tcPr>
                </a:tc>
                <a:extLst>
                  <a:ext uri="{0D108BD9-81ED-4DB2-BD59-A6C34878D82A}">
                    <a16:rowId xmlns:a16="http://schemas.microsoft.com/office/drawing/2014/main" val="10000"/>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0.73</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1er</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0.72</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2e</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MLP</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0.71</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3e</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Régression Linéaire</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0.54</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4e</a:t>
                      </a:r>
                      <a:endParaRPr lang="en-US" sz="1200" dirty="0">
                        <a:latin typeface="Calibri" charset="0"/>
                        <a:ea typeface="Calibri" charset="0"/>
                        <a:cs typeface="Calibri" charset="0"/>
                      </a:endParaRPr>
                    </a:p>
                  </a:txBody>
                  <a:tcPr>
                    <a:lnL w="12700" cap="flat" cmpd="sng" algn="ctr">
                      <a:solidFill>
                        <a:srgbClr val="C8DDE8"/>
                      </a:solidFill>
                      <a:prstDash val="solid"/>
                      <a:round/>
                      <a:headEnd type="none" w="med" len="med"/>
                      <a:tailEnd type="none" w="med" len="med"/>
                    </a:lnL>
                    <a:lnR w="12700" cap="flat" cmpd="sng" algn="ctr">
                      <a:solidFill>
                        <a:srgbClr val="C8DDE8"/>
                      </a:solidFill>
                      <a:prstDash val="solid"/>
                      <a:round/>
                      <a:headEnd type="none" w="med" len="med"/>
                      <a:tailEnd type="none" w="med" len="med"/>
                    </a:lnR>
                    <a:lnT w="12700" cap="flat" cmpd="sng" algn="ctr">
                      <a:solidFill>
                        <a:srgbClr val="C8DDE8"/>
                      </a:solidFill>
                      <a:prstDash val="solid"/>
                      <a:round/>
                      <a:headEnd type="none" w="med" len="med"/>
                      <a:tailEnd type="none" w="med" len="med"/>
                    </a:lnT>
                    <a:lnB w="12700" cap="flat" cmpd="sng" algn="ctr">
                      <a:solidFill>
                        <a:srgbClr val="C8DD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852160" y="3520440"/>
            <a:ext cx="3017520" cy="457200"/>
          </a:xfrm>
          <a:prstGeom prst="rect">
            <a:avLst/>
          </a:prstGeom>
          <a:noFill/>
          <a:ln/>
        </p:spPr>
        <p:txBody>
          <a:bodyPr wrap="square" rtlCol="0" anchor="ctr"/>
          <a:lstStyle/>
          <a:p>
            <a:pPr marL="0" indent="0">
              <a:buNone/>
            </a:pPr>
            <a:r>
              <a:rPr lang="en-US" sz="1200" b="1" dirty="0">
                <a:solidFill>
                  <a:srgbClr val="FF9800"/>
                </a:solidFill>
              </a:rPr>
              <a:t>✅ Meilleur modèle : Gradient Boosting (R² = 0.73)</a:t>
            </a:r>
            <a:endParaRPr lang="en-US" sz="1200" dirty="0"/>
          </a:p>
        </p:txBody>
      </p:sp>
      <p:sp>
        <p:nvSpPr>
          <p:cNvPr id="7" name="Text 3"/>
          <p:cNvSpPr/>
          <p:nvPr/>
        </p:nvSpPr>
        <p:spPr>
          <a:xfrm>
            <a:off x="365760" y="4251960"/>
            <a:ext cx="8412480" cy="731520"/>
          </a:xfrm>
          <a:prstGeom prst="rect">
            <a:avLst/>
          </a:prstGeom>
          <a:noFill/>
          <a:ln/>
        </p:spPr>
        <p:txBody>
          <a:bodyPr wrap="square" rtlCol="0" anchor="ctr"/>
          <a:lstStyle/>
          <a:p>
            <a:pPr marL="0" indent="0">
              <a:buNone/>
            </a:pPr>
            <a:r>
              <a:rPr lang="en-US" sz="1200" dirty="0">
                <a:solidFill>
                  <a:srgbClr val="0B3D4E"/>
                </a:solidFill>
              </a:rPr>
              <a:t>Le Gradient Boosting offre les meilleures performances sur ce dataset avec un R² de 0.73. La Régression Linéaire sous-performe, reflétant la complexité non-linéaire des données. Random Forest et MLP sont très proches du Gradient Boosting.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w="12700">
            <a:solidFill>
              <a:srgbClr val="065A82"/>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200" b="1" dirty="0">
                <a:solidFill>
                  <a:srgbClr val="FFFFFF"/>
                </a:solidFill>
              </a:rPr>
              <a:t>Projet 1 – Énergie : Réel vs Prédit &amp; Learning Curve</a:t>
            </a:r>
            <a:endParaRPr lang="en-US" sz="2200" dirty="0"/>
          </a:p>
        </p:txBody>
      </p:sp>
      <p:sp>
        <p:nvSpPr>
          <p:cNvPr id="4" name="Text 2"/>
          <p:cNvSpPr/>
          <p:nvPr/>
        </p:nvSpPr>
        <p:spPr>
          <a:xfrm>
            <a:off x="365760" y="822960"/>
            <a:ext cx="4114800" cy="320040"/>
          </a:xfrm>
          <a:prstGeom prst="rect">
            <a:avLst/>
          </a:prstGeom>
          <a:noFill/>
          <a:ln/>
        </p:spPr>
        <p:txBody>
          <a:bodyPr wrap="square" rtlCol="0" anchor="ctr"/>
          <a:lstStyle/>
          <a:p>
            <a:pPr marL="0" indent="0" algn="ctr">
              <a:buNone/>
            </a:pPr>
            <a:r>
              <a:rPr lang="en-US" sz="1300" b="1" dirty="0">
                <a:solidFill>
                  <a:srgbClr val="065A82"/>
                </a:solidFill>
              </a:rPr>
              <a:t>Valeurs Réelles vs Prédictions (échelle log)</a:t>
            </a:r>
            <a:endParaRPr lang="en-US" sz="1300" dirty="0"/>
          </a:p>
        </p:txBody>
      </p:sp>
      <p:graphicFrame>
        <p:nvGraphicFramePr>
          <p:cNvPr id="5" name="Chart 0"/>
          <p:cNvGraphicFramePr/>
          <p:nvPr/>
        </p:nvGraphicFramePr>
        <p:xfrm>
          <a:off x="274320" y="1143000"/>
          <a:ext cx="41148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663440" y="822960"/>
            <a:ext cx="4114800" cy="320040"/>
          </a:xfrm>
          <a:prstGeom prst="rect">
            <a:avLst/>
          </a:prstGeom>
          <a:noFill/>
          <a:ln/>
        </p:spPr>
        <p:txBody>
          <a:bodyPr wrap="square" rtlCol="0" anchor="ctr"/>
          <a:lstStyle/>
          <a:p>
            <a:pPr marL="0" indent="0" algn="ctr">
              <a:buNone/>
            </a:pPr>
            <a:r>
              <a:rPr lang="en-US" sz="1300" b="1" dirty="0">
                <a:solidFill>
                  <a:srgbClr val="065A82"/>
                </a:solidFill>
              </a:rPr>
              <a:t>Courbe d'Apprentissage – Gradient Boosting</a:t>
            </a:r>
            <a:endParaRPr lang="en-US" sz="1300" dirty="0"/>
          </a:p>
        </p:txBody>
      </p:sp>
      <p:graphicFrame>
        <p:nvGraphicFramePr>
          <p:cNvPr id="7" name="Chart 1"/>
          <p:cNvGraphicFramePr/>
          <p:nvPr/>
        </p:nvGraphicFramePr>
        <p:xfrm>
          <a:off x="4572000" y="1143000"/>
          <a:ext cx="420624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365760" y="4069080"/>
            <a:ext cx="8412480" cy="822960"/>
          </a:xfrm>
          <a:prstGeom prst="rect">
            <a:avLst/>
          </a:prstGeom>
          <a:noFill/>
          <a:ln/>
        </p:spPr>
        <p:txBody>
          <a:bodyPr wrap="square" rtlCol="0" anchor="ctr"/>
          <a:lstStyle/>
          <a:p>
            <a:pPr marL="0" indent="0">
              <a:buNone/>
            </a:pPr>
            <a:r>
              <a:rPr lang="en-US" sz="1200" dirty="0">
                <a:solidFill>
                  <a:srgbClr val="0B3D4E"/>
                </a:solidFill>
              </a:rPr>
              <a:t>La courbe d'apprentissage montre que le modèle Gradient Boosting bénéficie d'un volume de données accru. Le score train reste supérieur au score test, indiquant un léger surapprentissage maîtrisé. Plus de données amélioreraient encore les performances.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w="12700">
            <a:solidFill>
              <a:srgbClr val="1B5E20"/>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200" b="1" dirty="0">
                <a:solidFill>
                  <a:srgbClr val="FFFFFF"/>
                </a:solidFill>
              </a:rPr>
              <a:t>Projet 2 – Émissions CO₂ : Distribution &amp; Prétraitement</a:t>
            </a:r>
            <a:endParaRPr lang="en-US" sz="2200" dirty="0"/>
          </a:p>
        </p:txBody>
      </p:sp>
      <p:graphicFrame>
        <p:nvGraphicFramePr>
          <p:cNvPr id="4" name="Chart 0"/>
          <p:cNvGraphicFramePr/>
          <p:nvPr/>
        </p:nvGraphicFramePr>
        <p:xfrm>
          <a:off x="274320" y="914400"/>
          <a:ext cx="393192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274320" y="3520440"/>
            <a:ext cx="3931920" cy="274320"/>
          </a:xfrm>
          <a:prstGeom prst="rect">
            <a:avLst/>
          </a:prstGeom>
          <a:noFill/>
          <a:ln/>
        </p:spPr>
        <p:txBody>
          <a:bodyPr wrap="square" rtlCol="0" anchor="ctr"/>
          <a:lstStyle/>
          <a:p>
            <a:pPr marL="0" indent="0" algn="ctr">
              <a:buNone/>
            </a:pPr>
            <a:r>
              <a:rPr lang="en-US" sz="1000" dirty="0">
                <a:solidFill>
                  <a:srgbClr val="64748B"/>
                </a:solidFill>
              </a:rPr>
              <a:t>TotalGHGEmissions brutes (tCO₂e)</a:t>
            </a:r>
            <a:endParaRPr lang="en-US" sz="1000" dirty="0"/>
          </a:p>
        </p:txBody>
      </p:sp>
      <p:graphicFrame>
        <p:nvGraphicFramePr>
          <p:cNvPr id="6" name="Chart 1"/>
          <p:cNvGraphicFramePr/>
          <p:nvPr/>
        </p:nvGraphicFramePr>
        <p:xfrm>
          <a:off x="4663440" y="914400"/>
          <a:ext cx="393192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4663440" y="3520440"/>
            <a:ext cx="3931920" cy="274320"/>
          </a:xfrm>
          <a:prstGeom prst="rect">
            <a:avLst/>
          </a:prstGeom>
          <a:noFill/>
          <a:ln/>
        </p:spPr>
        <p:txBody>
          <a:bodyPr wrap="square" rtlCol="0" anchor="ctr"/>
          <a:lstStyle/>
          <a:p>
            <a:pPr marL="0" indent="0" algn="ctr">
              <a:buNone/>
            </a:pPr>
            <a:r>
              <a:rPr lang="en-US" sz="1000" dirty="0">
                <a:solidFill>
                  <a:srgbClr val="64748B"/>
                </a:solidFill>
              </a:rPr>
              <a:t>log(TotalGHGEmissions) – distribution normalisée</a:t>
            </a:r>
            <a:endParaRPr lang="en-US" sz="1000" dirty="0"/>
          </a:p>
        </p:txBody>
      </p:sp>
      <p:sp>
        <p:nvSpPr>
          <p:cNvPr id="8" name="Text 4"/>
          <p:cNvSpPr/>
          <p:nvPr/>
        </p:nvSpPr>
        <p:spPr>
          <a:xfrm>
            <a:off x="365760" y="3840480"/>
            <a:ext cx="8412480" cy="320040"/>
          </a:xfrm>
          <a:prstGeom prst="rect">
            <a:avLst/>
          </a:prstGeom>
          <a:noFill/>
          <a:ln/>
        </p:spPr>
        <p:txBody>
          <a:bodyPr wrap="square" rtlCol="0" anchor="ctr"/>
          <a:lstStyle/>
          <a:p>
            <a:pPr marL="0" indent="0">
              <a:buNone/>
            </a:pPr>
            <a:r>
              <a:rPr lang="en-US" sz="1300" b="1" dirty="0">
                <a:solidFill>
                  <a:srgbClr val="1B5E20"/>
                </a:solidFill>
              </a:rPr>
              <a:t>Variable cible : TotalGHGEmissions (tCO₂e)</a:t>
            </a:r>
            <a:endParaRPr lang="en-US" sz="1300" dirty="0"/>
          </a:p>
        </p:txBody>
      </p:sp>
      <p:sp>
        <p:nvSpPr>
          <p:cNvPr id="9" name="Text 5"/>
          <p:cNvSpPr/>
          <p:nvPr/>
        </p:nvSpPr>
        <p:spPr>
          <a:xfrm>
            <a:off x="365760" y="4160520"/>
            <a:ext cx="8412480" cy="777240"/>
          </a:xfrm>
          <a:prstGeom prst="rect">
            <a:avLst/>
          </a:prstGeom>
          <a:noFill/>
          <a:ln/>
        </p:spPr>
        <p:txBody>
          <a:bodyPr wrap="square" rtlCol="0" anchor="ctr"/>
          <a:lstStyle/>
          <a:p>
            <a:pPr marL="0" indent="0">
              <a:buNone/>
            </a:pPr>
            <a:r>
              <a:rPr lang="en-US" sz="1200" dirty="0">
                <a:solidFill>
                  <a:srgbClr val="0B3D4E"/>
                </a:solidFill>
              </a:rPr>
              <a:t>Comme pour la consommation d'énergie, les émissions de CO₂ suivent une distribution log-normale. La transformation log1p est indispensable pour stabiliser la variance et permettre aux modèles d'apprendre efficacement sur la totalité de la plage des valeurs.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w="12700">
            <a:solidFill>
              <a:srgbClr val="1B5E20"/>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200" b="1" dirty="0">
                <a:solidFill>
                  <a:srgbClr val="FFFFFF"/>
                </a:solidFill>
              </a:rPr>
              <a:t>Projet 2 – Émissions CO₂ : Comparaison des Modèles (R²)</a:t>
            </a:r>
            <a:endParaRPr lang="en-US" sz="2200" dirty="0"/>
          </a:p>
        </p:txBody>
      </p:sp>
      <p:graphicFrame>
        <p:nvGraphicFramePr>
          <p:cNvPr id="4" name="Chart 0"/>
          <p:cNvGraphicFramePr/>
          <p:nvPr/>
        </p:nvGraphicFramePr>
        <p:xfrm>
          <a:off x="365760" y="822960"/>
          <a:ext cx="530352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52160" y="914400"/>
          <a:ext cx="3017520" cy="2560320"/>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1206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Modèle</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solidFill>
                      <a:srgbClr val="1B5E2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solidFill>
                      <a:srgbClr val="1B5E2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Classement</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solidFill>
                      <a:srgbClr val="1B5E20"/>
                    </a:solidFill>
                  </a:tcPr>
                </a:tc>
                <a:extLst>
                  <a:ext uri="{0D108BD9-81ED-4DB2-BD59-A6C34878D82A}">
                    <a16:rowId xmlns:a16="http://schemas.microsoft.com/office/drawing/2014/main" val="10000"/>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0.87</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1er</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0.87</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1er ex æquo</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MLP</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0.77</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3e</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Régression Linéaire</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4e</a:t>
                      </a:r>
                      <a:endParaRPr lang="en-US" sz="1200" dirty="0">
                        <a:latin typeface="Calibri" charset="0"/>
                        <a:ea typeface="Calibri" charset="0"/>
                        <a:cs typeface="Calibri" charset="0"/>
                      </a:endParaRPr>
                    </a:p>
                  </a:txBody>
                  <a:tcPr>
                    <a:lnL w="12700" cap="flat" cmpd="sng" algn="ctr">
                      <a:solidFill>
                        <a:srgbClr val="A5D6A7"/>
                      </a:solidFill>
                      <a:prstDash val="solid"/>
                      <a:round/>
                      <a:headEnd type="none" w="med" len="med"/>
                      <a:tailEnd type="none" w="med" len="med"/>
                    </a:lnL>
                    <a:lnR w="12700" cap="flat" cmpd="sng" algn="ctr">
                      <a:solidFill>
                        <a:srgbClr val="A5D6A7"/>
                      </a:solidFill>
                      <a:prstDash val="solid"/>
                      <a:round/>
                      <a:headEnd type="none" w="med" len="med"/>
                      <a:tailEnd type="none" w="med" len="med"/>
                    </a:lnR>
                    <a:lnT w="12700" cap="flat" cmpd="sng" algn="ctr">
                      <a:solidFill>
                        <a:srgbClr val="A5D6A7"/>
                      </a:solidFill>
                      <a:prstDash val="solid"/>
                      <a:round/>
                      <a:headEnd type="none" w="med" len="med"/>
                      <a:tailEnd type="none" w="med" len="med"/>
                    </a:lnT>
                    <a:lnB w="12700" cap="flat" cmpd="sng" algn="ctr">
                      <a:solidFill>
                        <a:srgbClr val="A5D6A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p:nvPr/>
        </p:nvSpPr>
        <p:spPr>
          <a:xfrm>
            <a:off x="5852160" y="3520440"/>
            <a:ext cx="3017520" cy="457200"/>
          </a:xfrm>
          <a:prstGeom prst="rect">
            <a:avLst/>
          </a:prstGeom>
          <a:noFill/>
          <a:ln/>
        </p:spPr>
        <p:txBody>
          <a:bodyPr wrap="square" rtlCol="0" anchor="ctr"/>
          <a:lstStyle/>
          <a:p>
            <a:pPr marL="0" indent="0">
              <a:buNone/>
            </a:pPr>
            <a:r>
              <a:rPr lang="en-US" sz="1200" b="1" dirty="0">
                <a:solidFill>
                  <a:srgbClr val="388E3C"/>
                </a:solidFill>
              </a:rPr>
              <a:t>✅ Meilleurs modèles : RF &amp; GB ex æquo (R² = 0.87)</a:t>
            </a:r>
            <a:endParaRPr lang="en-US" sz="1200" dirty="0"/>
          </a:p>
        </p:txBody>
      </p:sp>
      <p:sp>
        <p:nvSpPr>
          <p:cNvPr id="7" name="Text 3"/>
          <p:cNvSpPr/>
          <p:nvPr/>
        </p:nvSpPr>
        <p:spPr>
          <a:xfrm>
            <a:off x="365760" y="4251960"/>
            <a:ext cx="8412480" cy="731520"/>
          </a:xfrm>
          <a:prstGeom prst="rect">
            <a:avLst/>
          </a:prstGeom>
          <a:noFill/>
          <a:ln/>
        </p:spPr>
        <p:txBody>
          <a:bodyPr wrap="square" rtlCol="0" anchor="ctr"/>
          <a:lstStyle/>
          <a:p>
            <a:pPr marL="0" indent="0">
              <a:buNone/>
            </a:pPr>
            <a:r>
              <a:rPr lang="en-US" sz="1200" dirty="0">
                <a:solidFill>
                  <a:srgbClr val="0B3D4E"/>
                </a:solidFill>
              </a:rPr>
              <a:t>Les performances sont nettement supérieures sur la prédiction des émissions CO₂ (R²=0.87) par rapport à l'énergie (R²=0.73). Le lien entre les features sélectionnées et les émissions GHG est donc plus direct, notamment grâce à l'inclusion de SiteEnergyUse comme variable explicative.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w="12700">
            <a:solidFill>
              <a:srgbClr val="1B5E20"/>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marL="0" indent="0">
              <a:buNone/>
            </a:pPr>
            <a:r>
              <a:rPr lang="en-US" sz="2200" b="1" dirty="0">
                <a:solidFill>
                  <a:srgbClr val="FFFFFF"/>
                </a:solidFill>
              </a:rPr>
              <a:t>Projet 2 – CO₂ : Réel vs Prédit &amp; Learning Curve</a:t>
            </a:r>
            <a:endParaRPr lang="en-US" sz="2200" dirty="0"/>
          </a:p>
        </p:txBody>
      </p:sp>
      <p:sp>
        <p:nvSpPr>
          <p:cNvPr id="4" name="Text 2"/>
          <p:cNvSpPr/>
          <p:nvPr/>
        </p:nvSpPr>
        <p:spPr>
          <a:xfrm>
            <a:off x="365760" y="822960"/>
            <a:ext cx="4114800" cy="320040"/>
          </a:xfrm>
          <a:prstGeom prst="rect">
            <a:avLst/>
          </a:prstGeom>
          <a:noFill/>
          <a:ln/>
        </p:spPr>
        <p:txBody>
          <a:bodyPr wrap="square" rtlCol="0" anchor="ctr"/>
          <a:lstStyle/>
          <a:p>
            <a:pPr marL="0" indent="0" algn="ctr">
              <a:buNone/>
            </a:pPr>
            <a:r>
              <a:rPr lang="en-US" sz="1300" b="1" dirty="0">
                <a:solidFill>
                  <a:srgbClr val="1B5E20"/>
                </a:solidFill>
              </a:rPr>
              <a:t>Valeurs Réelles vs Prédictions (GHG, échelle log)</a:t>
            </a:r>
            <a:endParaRPr lang="en-US" sz="1300" dirty="0"/>
          </a:p>
        </p:txBody>
      </p:sp>
      <p:graphicFrame>
        <p:nvGraphicFramePr>
          <p:cNvPr id="5" name="Chart 0"/>
          <p:cNvGraphicFramePr/>
          <p:nvPr/>
        </p:nvGraphicFramePr>
        <p:xfrm>
          <a:off x="274320" y="1143000"/>
          <a:ext cx="41148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663440" y="822960"/>
            <a:ext cx="4114800" cy="320040"/>
          </a:xfrm>
          <a:prstGeom prst="rect">
            <a:avLst/>
          </a:prstGeom>
          <a:noFill/>
          <a:ln/>
        </p:spPr>
        <p:txBody>
          <a:bodyPr wrap="square" rtlCol="0" anchor="ctr"/>
          <a:lstStyle/>
          <a:p>
            <a:pPr marL="0" indent="0" algn="ctr">
              <a:buNone/>
            </a:pPr>
            <a:r>
              <a:rPr lang="en-US" sz="1300" b="1" dirty="0">
                <a:solidFill>
                  <a:srgbClr val="1B5E20"/>
                </a:solidFill>
              </a:rPr>
              <a:t>Courbe d'Apprentissage – Gradient Boosting (CO₂)</a:t>
            </a:r>
            <a:endParaRPr lang="en-US" sz="1300" dirty="0"/>
          </a:p>
        </p:txBody>
      </p:sp>
      <p:graphicFrame>
        <p:nvGraphicFramePr>
          <p:cNvPr id="7" name="Chart 1"/>
          <p:cNvGraphicFramePr/>
          <p:nvPr/>
        </p:nvGraphicFramePr>
        <p:xfrm>
          <a:off x="4572000" y="1143000"/>
          <a:ext cx="420624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365760" y="4069080"/>
            <a:ext cx="8412480" cy="822960"/>
          </a:xfrm>
          <a:prstGeom prst="rect">
            <a:avLst/>
          </a:prstGeom>
          <a:noFill/>
          <a:ln/>
        </p:spPr>
        <p:txBody>
          <a:bodyPr wrap="square" rtlCol="0" anchor="ctr"/>
          <a:lstStyle/>
          <a:p>
            <a:pPr marL="0" indent="0">
              <a:buNone/>
            </a:pPr>
            <a:r>
              <a:rPr lang="en-US" sz="1200" dirty="0">
                <a:solidFill>
                  <a:srgbClr val="0B3D4E"/>
                </a:solidFill>
              </a:rPr>
              <a:t>Le scatter plot montre une excellente corrélation entre les valeurs réelles et prédites, avec des points proches de la droite parfaite. La learning curve confirme la convergence du modèle et suggère qu'un volume de données supplémentaire consoliderait encore les performances.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4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lgn="ctr">
              <a:buNone/>
            </a:pPr>
            <a:r>
              <a:rPr lang="en-US" sz="3200" b="1" dirty="0">
                <a:solidFill>
                  <a:srgbClr val="FFFFFF"/>
                </a:solidFill>
              </a:rPr>
              <a:t>Bilan &amp; Conclusions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780484471"/>
              </p:ext>
            </p:extLst>
          </p:nvPr>
        </p:nvGraphicFramePr>
        <p:xfrm>
          <a:off x="457200" y="1005840"/>
          <a:ext cx="8229600" cy="219456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Critère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solidFill>
                      <a:srgbClr val="065A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Projet 1 – </a:t>
                      </a:r>
                      <a:r>
                        <a:rPr lang="en-US" sz="1300" b="1" dirty="0" err="1">
                          <a:solidFill>
                            <a:srgbClr val="FFFFFF"/>
                          </a:solidFill>
                          <a:latin typeface="Calibri" pitchFamily="34" charset="0"/>
                          <a:ea typeface="Calibri" pitchFamily="34" charset="-122"/>
                          <a:cs typeface="Calibri" pitchFamily="34" charset="-120"/>
                        </a:rPr>
                        <a:t>Conso</a:t>
                      </a:r>
                      <a:r>
                        <a:rPr lang="en-US" sz="1300" b="1" dirty="0">
                          <a:solidFill>
                            <a:srgbClr val="FFFFFF"/>
                          </a:solidFill>
                          <a:latin typeface="Calibri" pitchFamily="34" charset="0"/>
                          <a:ea typeface="Calibri" pitchFamily="34" charset="-122"/>
                          <a:cs typeface="Calibri" pitchFamily="34" charset="-120"/>
                        </a:rPr>
                        <a:t> </a:t>
                      </a:r>
                      <a:r>
                        <a:rPr lang="en-US" sz="1300" b="1" dirty="0" err="1">
                          <a:solidFill>
                            <a:srgbClr val="FFFFFF"/>
                          </a:solidFill>
                          <a:latin typeface="Calibri" pitchFamily="34" charset="0"/>
                          <a:ea typeface="Calibri" pitchFamily="34" charset="-122"/>
                          <a:cs typeface="Calibri" pitchFamily="34" charset="-120"/>
                        </a:rPr>
                        <a:t>Énergie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solidFill>
                      <a:srgbClr val="065A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Projet 2 – </a:t>
                      </a:r>
                      <a:r>
                        <a:rPr lang="en-US" sz="1400" dirty="0" err="1">
                          <a:solidFill>
                            <a:srgbClr val="FFFFFF"/>
                          </a:solidFill>
                        </a:rPr>
                        <a:t>Émission</a:t>
                      </a:r>
                      <a:r>
                        <a:rPr lang="en-US" sz="1300" b="1" dirty="0">
                          <a:solidFill>
                            <a:srgbClr val="FFFFFF"/>
                          </a:solidFill>
                          <a:latin typeface="Calibri" pitchFamily="34" charset="0"/>
                          <a:cs typeface="Calibri" pitchFamily="34" charset="-120"/>
                        </a:rPr>
                        <a:t> </a:t>
                      </a:r>
                      <a:r>
                        <a:rPr lang="en-US" sz="1300" b="1" dirty="0">
                          <a:solidFill>
                            <a:srgbClr val="FFFFFF"/>
                          </a:solidFill>
                          <a:latin typeface="Calibri" pitchFamily="34" charset="0"/>
                          <a:ea typeface="Calibri" pitchFamily="34" charset="-122"/>
                          <a:cs typeface="Calibri" pitchFamily="34" charset="-120"/>
                        </a:rPr>
                        <a:t>CO₂</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Meilleur modèle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RF &amp; GB (ex æquo)</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R² (test)</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0.73</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Transformation cible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log1p(SiteEnergyUse)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log1p(TotalGHGEmissions)</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Difficulté relative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 Modérée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 Plus prédictible</a:t>
                      </a:r>
                      <a:endParaRPr lang="en-US" sz="1300" dirty="0">
                        <a:latin typeface="Calibri" charset="0"/>
                        <a:ea typeface="Calibri" charset="0"/>
                        <a:cs typeface="Calibri" charset="0"/>
                      </a:endParaRPr>
                    </a:p>
                  </a:txBody>
                  <a:tcPr>
                    <a:lnL w="12700" cap="flat" cmpd="sng" algn="ctr">
                      <a:solidFill>
                        <a:srgbClr val="1C7293"/>
                      </a:solidFill>
                      <a:prstDash val="solid"/>
                      <a:round/>
                      <a:headEnd type="none" w="med" len="med"/>
                      <a:tailEnd type="none" w="med" len="med"/>
                    </a:lnL>
                    <a:lnR w="12700" cap="flat" cmpd="sng" algn="ctr">
                      <a:solidFill>
                        <a:srgbClr val="1C7293"/>
                      </a:solidFill>
                      <a:prstDash val="solid"/>
                      <a:round/>
                      <a:headEnd type="none" w="med" len="med"/>
                      <a:tailEnd type="none" w="med" len="med"/>
                    </a:lnR>
                    <a:lnT w="12700" cap="flat" cmpd="sng" algn="ctr">
                      <a:solidFill>
                        <a:srgbClr val="1C7293"/>
                      </a:solidFill>
                      <a:prstDash val="solid"/>
                      <a:round/>
                      <a:headEnd type="none" w="med" len="med"/>
                      <a:tailEnd type="none" w="med" len="med"/>
                    </a:lnT>
                    <a:lnB w="12700" cap="flat" cmpd="sng" algn="ctr">
                      <a:solidFill>
                        <a:srgbClr val="1C729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457200" y="3337560"/>
            <a:ext cx="8229600" cy="320040"/>
          </a:xfrm>
          <a:prstGeom prst="rect">
            <a:avLst/>
          </a:prstGeom>
          <a:noFill/>
          <a:ln/>
        </p:spPr>
        <p:txBody>
          <a:bodyPr wrap="square" rtlCol="0" anchor="ctr"/>
          <a:lstStyle/>
          <a:p>
            <a:pPr marL="0" indent="0">
              <a:buNone/>
            </a:pPr>
            <a:r>
              <a:rPr lang="en-US" sz="1600" b="1" dirty="0">
                <a:solidFill>
                  <a:srgbClr val="02C39A"/>
                </a:solidFill>
              </a:rPr>
              <a:t>Points clés</a:t>
            </a:r>
            <a:endParaRPr lang="en-US" sz="1600" dirty="0"/>
          </a:p>
        </p:txBody>
      </p:sp>
      <p:sp>
        <p:nvSpPr>
          <p:cNvPr id="6" name="Text 3"/>
          <p:cNvSpPr/>
          <p:nvPr/>
        </p:nvSpPr>
        <p:spPr>
          <a:xfrm>
            <a:off x="457200" y="3657600"/>
            <a:ext cx="8321040" cy="132588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Les modèles ensemblistes (Random Forest, Gradient Boosting) dominent clairement sur les deux projets.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La transformation logarithmique est indispensable pour traiter les distributions asymétriques.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La prédiction des émissions CO₂ est plus précise car SiteEnergyUse est un prédicteur fort des GHG.</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Pistes d'amélioration : optimisation des hyperparamètres, données météo, SHAP pour l'explicabilité.</a:t>
            </a:r>
            <a:endParaRPr lang="en-US" sz="1200" dirty="0"/>
          </a:p>
        </p:txBody>
      </p:sp>
      <p:sp>
        <p:nvSpPr>
          <p:cNvPr id="7" name="Shape 4"/>
          <p:cNvSpPr/>
          <p:nvPr/>
        </p:nvSpPr>
        <p:spPr>
          <a:xfrm>
            <a:off x="0" y="4983480"/>
            <a:ext cx="9144000" cy="164592"/>
          </a:xfrm>
          <a:prstGeom prst="rect">
            <a:avLst/>
          </a:prstGeom>
          <a:solidFill>
            <a:srgbClr val="02C39A"/>
          </a:solidFill>
          <a:ln w="12700">
            <a:solidFill>
              <a:srgbClr val="02C39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TotalTime>
  <Words>808</Words>
  <Application>Microsoft Office PowerPoint</Application>
  <PresentationFormat>Affichage à l'écran (16:9)</PresentationFormat>
  <Paragraphs>137</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Britannic Bold</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Prédiction Énergétique &amp; Émissions CO₂ – Bâtiments Seattle 2016</dc:title>
  <dc:subject>PptxGenJS Presentation</dc:subject>
  <dc:creator>PptxGenJS</dc:creator>
  <cp:lastModifiedBy>Koku Etsè Joseph ALOKPA</cp:lastModifiedBy>
  <cp:revision>3</cp:revision>
  <dcterms:created xsi:type="dcterms:W3CDTF">2026-02-20T22:44:45Z</dcterms:created>
  <dcterms:modified xsi:type="dcterms:W3CDTF">2026-03-05T13:37:02Z</dcterms:modified>
</cp:coreProperties>
</file>